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0fc944f-8072-e29f-a0db-325c4cd6ad95}">
          <p14:sldIdLst>
            <p14:sldId id="256"/>
          </p14:sldIdLst>
        </p14:section>
        <p14:section name="Problem" id="{78774c4b-64ff-5b4a-57de-900a9048de94}">
          <p14:sldIdLst>
            <p14:sldId id="257"/>
          </p14:sldIdLst>
        </p14:section>
        <p14:section name="Solution" id="{9cf1bf1a-2b2a-d846-6085-943ad14a92fc}">
          <p14:sldIdLst>
            <p14:sldId id="258"/>
          </p14:sldIdLst>
        </p14:section>
        <p14:section name="Evidence" id="{c4fd79e5-086b-7d2a-ed06-67c8961b805c}">
          <p14:sldIdLst>
            <p14:sldId id="259"/>
          </p14:sldIdLst>
        </p14:section>
        <p14:section name="Close" id="{e6d620be-efa8-8671-15bf-0a51bed22e4e}">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India</c:v>
                </c:pt>
              </c:strCache>
            </c:strRef>
          </c:tx>
          <c:spPr>
            <a:solidFill>
              <a:srgbClr val="FBBF24"/>
            </a:solidFill>
            <a:effectLst/>
          </c:spPr>
          <c:invertIfNegative val="0"/>
          <c:dLbls>
            <c:numFmt formatCode="0.0&quot;%&quot;" sourceLinked="0"/>
            <c:txPr>
              <a:bodyPr/>
              <a:lstStyle/>
              <a:p>
                <a:pPr>
                  <a:defRPr b="1" i="0" strike="noStrike" sz="1800" u="none">
                    <a:solidFill>
                      <a:srgbClr val="EEF2F5"/>
                    </a:solidFill>
                    <a:latin typeface="+mn-lt"/>
                  </a:defRPr>
                </a:pPr>
              </a:p>
            </c:txPr>
            <c:showLegendKey val="0"/>
            <c:showVal val="1"/>
            <c:showCatName val="0"/>
            <c:showSerName val="1"/>
            <c:showPercent val="0"/>
            <c:showBubbleSize val="0"/>
            <c:showLeaderLines val="0"/>
          </c:dLbls>
          <c:cat>
            <c:multiLvlStrRef>
              <c:f>Sheet1!$A$2:$A$3</c:f>
              <c:multiLvlStrCache>
                <c:ptCount val="2"/>
                <c:lvl>
                  <c:pt idx="0">
                    <c:v>Bystander CPR</c:v>
                  </c:pt>
                  <c:pt idx="1">
                    <c:v>Survival to hospital discharge</c:v>
                  </c:pt>
                </c:lvl>
              </c:multiLvlStrCache>
            </c:multiLvlStrRef>
          </c:cat>
          <c:val>
            <c:numRef>
              <c:f>Sheet1!$B$2:$B$3</c:f>
              <c:numCache>
                <c:formatCode>General</c:formatCode>
                <c:ptCount val="2"/>
                <c:pt idx="0">
                  <c:v>9.8</c:v>
                </c:pt>
                <c:pt idx="1">
                  <c:v>1.4</c:v>
                </c:pt>
              </c:numCache>
            </c:numRef>
          </c:val>
        </c:ser>
        <c:ser>
          <c:idx val="1"/>
          <c:order val="1"/>
          <c:tx>
            <c:strRef>
              <c:f>Sheet1!$C$1</c:f>
              <c:strCache>
                <c:ptCount val="1"/>
                <c:pt idx="0">
                  <c:v>US</c:v>
                </c:pt>
              </c:strCache>
            </c:strRef>
          </c:tx>
          <c:spPr>
            <a:solidFill>
              <a:srgbClr val="93A3B5"/>
            </a:solidFill>
            <a:effectLst/>
          </c:spPr>
          <c:invertIfNegative val="0"/>
          <c:dLbls>
            <c:numFmt formatCode="0.0&quot;%&quot;" sourceLinked="0"/>
            <c:txPr>
              <a:bodyPr/>
              <a:lstStyle/>
              <a:p>
                <a:pPr>
                  <a:defRPr b="1" i="0" strike="noStrike" sz="1800" u="none">
                    <a:solidFill>
                      <a:srgbClr val="EEF2F5"/>
                    </a:solidFill>
                    <a:latin typeface="+mn-lt"/>
                  </a:defRPr>
                </a:pPr>
              </a:p>
            </c:txPr>
            <c:showLegendKey val="0"/>
            <c:showVal val="1"/>
            <c:showCatName val="0"/>
            <c:showSerName val="1"/>
            <c:showPercent val="0"/>
            <c:showBubbleSize val="0"/>
            <c:showLeaderLines val="0"/>
          </c:dLbls>
          <c:cat>
            <c:multiLvlStrRef>
              <c:f>Sheet1!$A$2:$A$3</c:f>
              <c:multiLvlStrCache>
                <c:ptCount val="2"/>
                <c:lvl>
                  <c:pt idx="0">
                    <c:v>Bystander CPR</c:v>
                  </c:pt>
                  <c:pt idx="1">
                    <c:v>Survival to hospital discharge</c:v>
                  </c:pt>
                </c:lvl>
              </c:multiLvlStrCache>
            </c:multiLvlStrRef>
          </c:cat>
          <c:val>
            <c:numRef>
              <c:f>Sheet1!$C$2:$C$3</c:f>
              <c:numCache>
                <c:formatCode>General</c:formatCode>
                <c:ptCount val="2"/>
                <c:pt idx="0">
                  <c:v>40.2</c:v>
                </c:pt>
                <c:pt idx="1">
                  <c:v>9.1</c:v>
                </c:pt>
              </c:numCache>
            </c:numRef>
          </c:val>
        </c:ser>
        <c:dLbls>
          <c:numFmt formatCode="0.0&quot;%&quot;" sourceLinked="0"/>
          <c:txPr>
            <a:bodyPr/>
            <a:lstStyle/>
            <a:p>
              <a:pPr>
                <a:defRPr b="1" i="0" strike="noStrike" sz="1800" u="none">
                  <a:solidFill>
                    <a:srgbClr val="EEF2F5"/>
                  </a:solidFill>
                  <a:latin typeface="+mn-lt"/>
                </a:defRPr>
              </a:pPr>
            </a:p>
          </c:txPr>
          <c:showLegendKey val="0"/>
          <c:showVal val="1"/>
          <c:showCatName val="0"/>
          <c:showSerName val="1"/>
          <c:showPercent val="0"/>
          <c:showBubbleSize val="0"/>
          <c:showLeaderLines val="0"/>
        </c:dLbls>
        <c:gapWidth val="70"/>
        <c:overlap val="-1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2A3642"/>
            </a:solidFill>
            <a:prstDash val="solid"/>
            <a:round/>
          </a:ln>
        </c:spPr>
        <c:txPr>
          <a:bodyPr/>
          <a:lstStyle/>
          <a:p>
            <a:pPr>
              <a:defRPr sz="1800" b="0" i="0" u="none" strike="noStrike">
                <a:solidFill>
                  <a:srgbClr val="EEF2F5"/>
                </a:solidFill>
                <a:latin typeface="+mn-lt"/>
              </a:defRPr>
            </a:pPr>
            <a:endParaRPr lang="en-US"/>
          </a:p>
        </c:txPr>
        <c:crossAx val="2094734552"/>
        <c:crosses val="autoZero"/>
        <c:auto val="1"/>
        <c:lblAlgn val="ctr"/>
        <c:noMultiLvlLbl val="1"/>
      </c:catAx>
      <c:valAx>
        <c:axId val="2094734552"/>
        <c:scaling>
          <c:orientation val="minMax"/>
          <c:max val="4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0E1418"/>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CPR Coach is a phone app that watches you do CPR on a practice manikin and tells you, out loud, what to fix. The line is the push rhythm the app reads: flat when nobody is pushing, steady at 110 a minute when someone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an Indian Heart Journal study of 205 cardiac-arrest patients at one hospital, 9.8 percent got CPR from a bystander and 1.4 percent left hospital alive. The American Heart Association's US figures are 40.2 percent and 9.1 percent. The two sources are not measured the same way, one hospital against a national registry, so read it as a gap, not a precise ratio. Under 2 in 100 people in one survey said they knew CPR, and skills can start to fade within about three months of a course. Karnataka is moving: in July 2025 the Health Minister announced CPR training for school and college students, teachers and gym trainers (NewKerala, 10 July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screenshots from the real app on a phone this morning. In Practise it has counted 103 pushes a minute and says elbows straight; the line on the arm is the elbow angle it measured. In Emergency the joints are teal while posture is fine and turn amber when it needs fixing, with Call 112 always on screen. All you need is a phone and a home-made manikin: ours is a T-shirt over a padded bundle. It counts the push rate, elbow angle and pauses, checks shoulders over hands, and says one correction at a time. One camera can't measure depth, force or exact hand placement, and when it loses the arms it shows a dash instead of guessing. Coaching clips exist in ten languages; English is checked and the other nine are machine-translated and still need native-speaker review. Everything runs on the phone with no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596 commits on the cpr-coach branch, built with four people and a swarm of AI coding agents across four PCs. The first time real motion went through the app on a phone, the rate code crashed mid-session when every correlation peak was negative, and that recording was lost. We fixed the crash so a failed reading shows no number instead of killing the session, made recordings save as they go, capped pose input near 15 frames a second at 640 by 480, and added an adaptive frame gap with thermal and battery logging on every trace. Today 399 unit tests pass, with 5 skipped, and seven real phone recordings must replay with byte-identical output before anything merges.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Practise on the manikin so you can hear the corrections, then Emergency: one tap, beat and spoken steps, Call 112 opens the dialer and we cancel it. Manikin only, never a person; no real call is placed. Next we count it by hand to get a real accuracy number, then put it in front of certified CPR trainers, then pilot it in colleges. This is not a medical device: in a real emergency, call 112 or 108 and start CPR.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K">
    <p:bg>
      <p:bgPr>
        <a:solidFill>
          <a:srgbClr val="0E141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K_BARE">
    <p:bg>
      <p:bgPr>
        <a:solidFill>
          <a:srgbClr val="0E141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1097280"/>
            <a:ext cx="7315200" cy="1280160"/>
          </a:xfrm>
          <a:prstGeom prst="rect">
            <a:avLst/>
          </a:prstGeom>
          <a:noFill/>
          <a:ln/>
        </p:spPr>
        <p:txBody>
          <a:bodyPr wrap="square" rtlCol="0"/>
          <a:lstStyle>
            <a:lvl1pPr algn="l" indent="0" marL="0">
              <a:buNone/>
              <a:defRPr lang="en-US" sz="8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8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3-4.jp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1418">
              <a:alpha val="30000"/>
            </a:srgbClr>
          </a:solidFill>
          <a:ln/>
        </p:spPr>
      </p:sp>
      <p:sp>
        <p:nvSpPr>
          <p:cNvPr id="3" name="Text 0"/>
          <p:cNvSpPr/>
          <p:nvPr>
            <p:ph idx="100" type="title" hasCustomPrompt="1"/>
          </p:nvPr>
        </p:nvSpPr>
        <p:spPr>
          <a:xfrm>
            <a:off x="685800" y="1097280"/>
            <a:ext cx="7315200" cy="1280160"/>
          </a:xfrm>
          <a:prstGeom prst="rect">
            <a:avLst/>
          </a:prstGeom>
          <a:noFill/>
          <a:ln/>
        </p:spPr>
        <p:txBody>
          <a:bodyPr wrap="square" lIns="0" tIns="0" rIns="0" bIns="0" rtlCol="0" anchor="t"/>
          <a:lstStyle/>
          <a:p>
            <a:pPr algn="l" indent="0" marL="0">
              <a:buNone/>
            </a:pPr>
            <a:r>
              <a:rPr lang="en-US" sz="8000" b="1" dirty="0">
                <a:solidFill>
                  <a:schemeClr val="bg1"/>
                </a:solidFill>
                <a:latin typeface="Cambria" pitchFamily="34" charset="0"/>
                <a:ea typeface="Cambria" pitchFamily="34" charset="-122"/>
                <a:cs typeface="Cambria" pitchFamily="34" charset="-120"/>
              </a:rPr>
              <a:t>CPR Coach</a:t>
            </a:r>
            <a:endParaRPr lang="en-US" sz="8000" dirty="0"/>
          </a:p>
        </p:txBody>
      </p:sp>
      <p:sp>
        <p:nvSpPr>
          <p:cNvPr id="4" name="Text 2"/>
          <p:cNvSpPr txBox="1"/>
          <p:nvPr/>
        </p:nvSpPr>
        <p:spPr>
          <a:xfrm>
            <a:off x="9966960" y="164592"/>
            <a:ext cx="1536192" cy="274320"/>
          </a:xfrm>
          <a:prstGeom prst="rect">
            <a:avLst/>
          </a:prstGeom>
          <a:noFill/>
          <a:ln/>
        </p:spPr>
        <p:txBody>
          <a:bodyPr wrap="square" lIns="0" tIns="0" rIns="0" bIns="0" rtlCol="0" anchor="t"/>
          <a:lstStyle/>
          <a:p>
            <a:pPr algn="r" indent="0" marL="0">
              <a:buNone/>
            </a:pPr>
            <a:r>
              <a:rPr lang="en-US" sz="1200" i="1" dirty="0">
                <a:solidFill>
                  <a:schemeClr val="bg2"/>
                </a:solidFill>
              </a:rPr>
              <a:t>Illustration</a:t>
            </a:r>
            <a:endParaRPr lang="en-US" sz="1200" dirty="0"/>
          </a:p>
        </p:txBody>
      </p:sp>
      <p:sp>
        <p:nvSpPr>
          <p:cNvPr id="5" name="Text 3"/>
          <p:cNvSpPr txBox="1"/>
          <p:nvPr/>
        </p:nvSpPr>
        <p:spPr>
          <a:xfrm>
            <a:off x="685800" y="2514600"/>
            <a:ext cx="6949440" cy="914400"/>
          </a:xfrm>
          <a:prstGeom prst="rect">
            <a:avLst/>
          </a:prstGeom>
          <a:noFill/>
          <a:ln/>
        </p:spPr>
        <p:txBody>
          <a:bodyPr wrap="square" lIns="0" tIns="0" rIns="0" bIns="0" rtlCol="0" anchor="t"/>
          <a:lstStyle/>
          <a:p>
            <a:pPr indent="0" marL="0">
              <a:buNone/>
            </a:pPr>
            <a:r>
              <a:rPr lang="en-US" sz="2800" dirty="0">
                <a:solidFill>
                  <a:schemeClr val="bg1"/>
                </a:solidFill>
              </a:rPr>
              <a:t>A phone that watches your CPR and tells you what to fix.</a:t>
            </a:r>
            <a:endParaRPr lang="en-US" sz="2800" dirty="0"/>
          </a:p>
        </p:txBody>
      </p:sp>
      <p:pic>
        <p:nvPicPr>
          <p:cNvPr id="6" name="Image 0" descr="A flat line that turns into a steady push rhythm">    </p:cNvPr>
          <p:cNvPicPr>
            <a:picLocks noChangeAspect="1"/>
          </p:cNvPicPr>
          <p:nvPr/>
        </p:nvPicPr>
        <p:blipFill>
          <a:blip r:embed="rId2"/>
          <a:stretch>
            <a:fillRect/>
          </a:stretch>
        </p:blipFill>
        <p:spPr>
          <a:xfrm>
            <a:off x="0" y="3749040"/>
            <a:ext cx="12191695" cy="914400"/>
          </a:xfrm>
          <a:prstGeom prst="rect">
            <a:avLst/>
          </a:prstGeom>
        </p:spPr>
      </p:pic>
      <p:sp>
        <p:nvSpPr>
          <p:cNvPr id="7" name="Text 4"/>
          <p:cNvSpPr txBox="1"/>
          <p:nvPr/>
        </p:nvSpPr>
        <p:spPr>
          <a:xfrm>
            <a:off x="10149840" y="3337560"/>
            <a:ext cx="1371600" cy="320040"/>
          </a:xfrm>
          <a:prstGeom prst="rect">
            <a:avLst/>
          </a:prstGeom>
          <a:noFill/>
          <a:ln/>
        </p:spPr>
        <p:txBody>
          <a:bodyPr wrap="square" lIns="0" tIns="0" rIns="0" bIns="0" rtlCol="0" anchor="t"/>
          <a:lstStyle/>
          <a:p>
            <a:pPr algn="r" indent="0" marL="0">
              <a:buNone/>
            </a:pPr>
            <a:r>
              <a:rPr lang="en-US" sz="1600" b="1" dirty="0">
                <a:solidFill>
                  <a:schemeClr val="accent1"/>
                </a:solidFill>
                <a:latin typeface="Consolas" pitchFamily="34" charset="0"/>
                <a:ea typeface="Consolas" pitchFamily="34" charset="-122"/>
                <a:cs typeface="Consolas" pitchFamily="34" charset="-120"/>
              </a:rPr>
              <a:t>110 /min</a:t>
            </a:r>
            <a:endParaRPr lang="en-US" sz="1600" dirty="0"/>
          </a:p>
        </p:txBody>
      </p:sp>
      <p:sp>
        <p:nvSpPr>
          <p:cNvPr id="8" name="Text 5"/>
          <p:cNvSpPr txBox="1"/>
          <p:nvPr/>
        </p:nvSpPr>
        <p:spPr>
          <a:xfrm>
            <a:off x="685800" y="5760720"/>
            <a:ext cx="6400800" cy="365760"/>
          </a:xfrm>
          <a:prstGeom prst="rect">
            <a:avLst/>
          </a:prstGeom>
          <a:noFill/>
          <a:ln/>
        </p:spPr>
        <p:txBody>
          <a:bodyPr wrap="square" lIns="0" tIns="0" rIns="0" bIns="0" rtlCol="0" anchor="t"/>
          <a:lstStyle/>
          <a:p>
            <a:pPr indent="0" marL="0">
              <a:buNone/>
            </a:pPr>
            <a:r>
              <a:rPr lang="en-US" sz="1800" b="1" dirty="0">
                <a:solidFill>
                  <a:schemeClr val="bg1"/>
                </a:solidFill>
              </a:rPr>
              <a:t>Team Zero Flux</a:t>
            </a:r>
            <a:pPr indent="0" marL="0">
              <a:buNone/>
            </a:pPr>
            <a:r>
              <a:rPr lang="en-US" sz="1800" dirty="0">
                <a:solidFill>
                  <a:schemeClr val="bg2"/>
                </a:solidFill>
              </a:rPr>
              <a:t>   Vivek · Pratham · Prabal · Moksh</a:t>
            </a:r>
            <a:endParaRPr lang="en-US" sz="1800" dirty="0"/>
          </a:p>
        </p:txBody>
      </p:sp>
      <p:sp>
        <p:nvSpPr>
          <p:cNvPr id="9" name="Text 6"/>
          <p:cNvSpPr txBox="1"/>
          <p:nvPr/>
        </p:nvSpPr>
        <p:spPr>
          <a:xfrm>
            <a:off x="7315200" y="5797296"/>
            <a:ext cx="4187952" cy="320040"/>
          </a:xfrm>
          <a:prstGeom prst="rect">
            <a:avLst/>
          </a:prstGeom>
          <a:noFill/>
          <a:ln/>
        </p:spPr>
        <p:txBody>
          <a:bodyPr wrap="square" lIns="0" tIns="0" rIns="0" bIns="0" rtlCol="0" anchor="t"/>
          <a:lstStyle/>
          <a:p>
            <a:pPr algn="r" indent="0" marL="0">
              <a:buNone/>
            </a:pPr>
            <a:r>
              <a:rPr lang="en-US" sz="1400" dirty="0">
                <a:solidFill>
                  <a:schemeClr val="bg2"/>
                </a:solidFill>
                <a:latin typeface="Consolas" pitchFamily="34" charset="0"/>
                <a:ea typeface="Consolas" pitchFamily="34" charset="-122"/>
                <a:cs typeface="Consolas" pitchFamily="34" charset="-120"/>
              </a:rPr>
              <a:t>ANVATHON 2026 · OPEN INNOVATION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India's bystander CPR rate is a quarter of the US rate</a:t>
            </a:r>
            <a:endParaRPr lang="en-US" sz="4000" dirty="0"/>
          </a:p>
        </p:txBody>
      </p:sp>
      <p:graphicFrame>
        <p:nvGraphicFramePr>
          <p:cNvPr id="3" name="Chart 0" descr="Bar chart. Bystander CPR: India 9.8%, US 40.2%. Survival to hospital discharge: India 1.4%, US 9.1%."/>
          <p:cNvGraphicFramePr/>
          <p:nvPr/>
        </p:nvGraphicFramePr>
        <p:xfrm>
          <a:off x="594360" y="1783080"/>
          <a:ext cx="7680960" cy="34290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549640" y="2103120"/>
            <a:ext cx="2953512" cy="3108960"/>
          </a:xfrm>
          <a:prstGeom prst="rect">
            <a:avLst/>
          </a:prstGeom>
          <a:noFill/>
          <a:ln/>
        </p:spPr>
        <p:txBody>
          <a:bodyPr wrap="square" lIns="0" tIns="0" rIns="0" bIns="0" rtlCol="0" anchor="t"/>
          <a:lstStyle/>
          <a:p>
            <a:pPr indent="0" marL="0">
              <a:buNone/>
            </a:pPr>
            <a:r>
              <a:rPr lang="en-US" sz="2000" b="1" dirty="0">
                <a:solidFill>
                  <a:schemeClr val="accent3"/>
                </a:solidFill>
              </a:rPr>
              <a:t>India</a:t>
            </a:r>
            <a:endParaRPr lang="en-US" sz="2000" dirty="0"/>
          </a:p>
          <a:p>
            <a:pPr indent="0" marL="0">
              <a:buNone/>
            </a:pPr>
            <a:r>
              <a:rPr lang="en-US" sz="2000" dirty="0">
                <a:solidFill>
                  <a:schemeClr val="bg2"/>
                </a:solidFill>
              </a:rPr>
              <a:t>one hospital, 205 patients</a:t>
            </a:r>
            <a:endParaRPr lang="en-US" sz="2000" dirty="0"/>
          </a:p>
          <a:p>
            <a:pPr indent="0" marL="0">
              <a:buNone/>
            </a:pPr>
            <a:r>
              <a:rPr lang="en-US" sz="800" dirty="0">
                <a:solidFill>
                  <a:schemeClr val="bg1"/>
                </a:solidFill>
              </a:rPr>
              <a:t> </a:t>
            </a:r>
            <a:endParaRPr lang="en-US" sz="2000" dirty="0"/>
          </a:p>
          <a:p>
            <a:pPr indent="0" marL="0">
              <a:buNone/>
            </a:pPr>
            <a:r>
              <a:rPr lang="en-US" sz="2000" b="1" dirty="0">
                <a:solidFill>
                  <a:schemeClr val="bg2"/>
                </a:solidFill>
              </a:rPr>
              <a:t>US</a:t>
            </a:r>
            <a:endParaRPr lang="en-US" sz="2000" dirty="0"/>
          </a:p>
          <a:p>
            <a:pPr indent="0" marL="0">
              <a:buNone/>
            </a:pPr>
            <a:r>
              <a:rPr lang="en-US" sz="2000" dirty="0">
                <a:solidFill>
                  <a:schemeClr val="bg2"/>
                </a:solidFill>
              </a:rPr>
              <a:t>national registry</a:t>
            </a:r>
            <a:endParaRPr lang="en-US" sz="2000" dirty="0"/>
          </a:p>
          <a:p>
            <a:pPr indent="0" marL="0">
              <a:buNone/>
            </a:pPr>
            <a:r>
              <a:rPr lang="en-US" sz="1000" dirty="0">
                <a:solidFill>
                  <a:schemeClr val="bg1"/>
                </a:solidFill>
              </a:rPr>
              <a:t> </a:t>
            </a:r>
            <a:endParaRPr lang="en-US" sz="2000" dirty="0"/>
          </a:p>
          <a:p>
            <a:pPr indent="0" marL="0">
              <a:buNone/>
            </a:pPr>
            <a:r>
              <a:rPr lang="en-US" sz="2000" dirty="0">
                <a:solidFill>
                  <a:schemeClr val="bg1"/>
                </a:solidFill>
              </a:rPr>
              <a:t>Fewer people nearby start CPR, and fewer patients leave hospital alive.</a:t>
            </a:r>
            <a:endParaRPr lang="en-US" sz="2000" dirty="0"/>
          </a:p>
        </p:txBody>
      </p:sp>
      <p:sp>
        <p:nvSpPr>
          <p:cNvPr id="5" name="Text 2"/>
          <p:cNvSpPr txBox="1"/>
          <p:nvPr/>
        </p:nvSpPr>
        <p:spPr>
          <a:xfrm>
            <a:off x="685800" y="5285232"/>
            <a:ext cx="7589520" cy="603504"/>
          </a:xfrm>
          <a:prstGeom prst="rect">
            <a:avLst/>
          </a:prstGeom>
          <a:noFill/>
          <a:ln/>
        </p:spPr>
        <p:txBody>
          <a:bodyPr wrap="square" lIns="0" tIns="0" rIns="0" bIns="0" rtlCol="0" anchor="t"/>
          <a:lstStyle/>
          <a:p>
            <a:pPr indent="0" marL="0">
              <a:buNone/>
            </a:pPr>
            <a:r>
              <a:rPr lang="en-US" sz="1800" b="1" dirty="0">
                <a:solidFill>
                  <a:schemeClr val="accent1"/>
                </a:solidFill>
              </a:rPr>
              <a:t>Karnataka is moving: </a:t>
            </a:r>
            <a:pPr indent="0" marL="0">
              <a:buNone/>
            </a:pPr>
            <a:r>
              <a:rPr lang="en-US" sz="1800" dirty="0">
                <a:solidFill>
                  <a:schemeClr val="bg1"/>
                </a:solidFill>
              </a:rPr>
              <a:t>in July 2025 the Health Minister announced CPR training for school and college students, teachers and gym trainers.</a:t>
            </a:r>
            <a:endParaRPr lang="en-US" sz="1800" dirty="0"/>
          </a:p>
        </p:txBody>
      </p:sp>
      <p:sp>
        <p:nvSpPr>
          <p:cNvPr id="6" name="Text 3"/>
          <p:cNvSpPr txBox="1"/>
          <p:nvPr/>
        </p:nvSpPr>
        <p:spPr>
          <a:xfrm>
            <a:off x="685800" y="5943600"/>
            <a:ext cx="4937760" cy="777240"/>
          </a:xfrm>
          <a:prstGeom prst="rect">
            <a:avLst/>
          </a:prstGeom>
          <a:noFill/>
          <a:ln/>
        </p:spPr>
        <p:txBody>
          <a:bodyPr wrap="square" lIns="0" tIns="0" rIns="0" bIns="0" rtlCol="0" anchor="t"/>
          <a:lstStyle/>
          <a:p>
            <a:pPr indent="0" marL="0">
              <a:buNone/>
            </a:pPr>
            <a:r>
              <a:rPr lang="en-US" sz="1200" dirty="0">
                <a:solidFill>
                  <a:schemeClr val="bg2"/>
                </a:solidFill>
              </a:rPr>
              <a:t>India: Bhat et al., Indian Heart Journal 2021, one tertiary hospital, 205 patients. Karnataka: NewKerala, 10 July 2025.</a:t>
            </a:r>
            <a:endParaRPr lang="en-US" sz="1200" dirty="0"/>
          </a:p>
          <a:p>
            <a:pPr indent="0" marL="0">
              <a:buNone/>
            </a:pPr>
            <a:r>
              <a:rPr lang="en-US" sz="1200" dirty="0">
                <a:solidFill>
                  <a:schemeClr val="bg2"/>
                </a:solidFill>
              </a:rPr>
              <a:t>The two sources are not measured the same way: one hospital vs a national registry.</a:t>
            </a:r>
            <a:endParaRPr lang="en-US" sz="1200" dirty="0"/>
          </a:p>
        </p:txBody>
      </p:sp>
      <p:sp>
        <p:nvSpPr>
          <p:cNvPr id="7" name="Text 4"/>
          <p:cNvSpPr txBox="1"/>
          <p:nvPr/>
        </p:nvSpPr>
        <p:spPr>
          <a:xfrm>
            <a:off x="5897880" y="5943600"/>
            <a:ext cx="4937760" cy="658368"/>
          </a:xfrm>
          <a:prstGeom prst="rect">
            <a:avLst/>
          </a:prstGeom>
          <a:noFill/>
          <a:ln/>
        </p:spPr>
        <p:txBody>
          <a:bodyPr wrap="square" lIns="0" tIns="0" rIns="0" bIns="0" rtlCol="0" anchor="t"/>
          <a:lstStyle/>
          <a:p>
            <a:pPr indent="0" marL="0">
              <a:buNone/>
            </a:pPr>
            <a:r>
              <a:rPr lang="en-US" sz="1200" dirty="0">
                <a:solidFill>
                  <a:schemeClr val="bg2"/>
                </a:solidFill>
              </a:rPr>
              <a:t>US: American Heart Association, Heart Disease and Stroke Statistics 2023. Bystander CPR: over 356,000 out-of-hospital arrests. Survival: 2021 US data, EMS-treated adult non-traumatic arrests.</a:t>
            </a:r>
            <a:endParaRPr lang="en-US" sz="12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It watches your arms and says what to fix</a:t>
            </a:r>
            <a:endParaRPr lang="en-US" sz="4000" dirty="0"/>
          </a:p>
        </p:txBody>
      </p:sp>
      <p:pic>
        <p:nvPicPr>
          <p:cNvPr id="3" name="Image 0" descr="App screenshot, Practise: 103 per minute, elbow angle 172 degrees, Elbows straight">    </p:cNvPr>
          <p:cNvPicPr>
            <a:picLocks noChangeAspect="1"/>
          </p:cNvPicPr>
          <p:nvPr/>
        </p:nvPicPr>
        <p:blipFill>
          <a:blip r:embed="rId1"/>
          <a:stretch>
            <a:fillRect/>
          </a:stretch>
        </p:blipFill>
        <p:spPr>
          <a:xfrm>
            <a:off x="685800" y="1691640"/>
            <a:ext cx="6400800" cy="2597658"/>
          </a:xfrm>
          <a:prstGeom prst="rect">
            <a:avLst/>
          </a:prstGeom>
        </p:spPr>
      </p:pic>
      <p:sp>
        <p:nvSpPr>
          <p:cNvPr id="4" name="Text 1"/>
          <p:cNvSpPr txBox="1"/>
          <p:nvPr/>
        </p:nvSpPr>
        <p:spPr>
          <a:xfrm>
            <a:off x="685800" y="4334256"/>
            <a:ext cx="6400800" cy="320040"/>
          </a:xfrm>
          <a:prstGeom prst="rect">
            <a:avLst/>
          </a:prstGeom>
          <a:noFill/>
          <a:ln/>
        </p:spPr>
        <p:txBody>
          <a:bodyPr wrap="square" lIns="0" tIns="0" rIns="0" bIns="0" rtlCol="0" anchor="t"/>
          <a:lstStyle/>
          <a:p>
            <a:pPr indent="0" marL="0">
              <a:buNone/>
            </a:pPr>
            <a:r>
              <a:rPr lang="en-US" sz="1800" dirty="0">
                <a:solidFill>
                  <a:schemeClr val="accent1"/>
                </a:solidFill>
              </a:rPr>
              <a:t>Practise: 103 pushes a minute, elbows straight</a:t>
            </a:r>
            <a:endParaRPr lang="en-US" sz="1800" dirty="0"/>
          </a:p>
        </p:txBody>
      </p:sp>
      <p:pic>
        <p:nvPicPr>
          <p:cNvPr id="5" name="Image 1" descr="App screenshot, Emergency at 0:19: joints tracked in teal, Call 112 button">    </p:cNvPr>
          <p:cNvPicPr>
            <a:picLocks noChangeAspect="1"/>
          </p:cNvPicPr>
          <p:nvPr/>
        </p:nvPicPr>
        <p:blipFill>
          <a:blip r:embed="rId2"/>
          <a:stretch>
            <a:fillRect/>
          </a:stretch>
        </p:blipFill>
        <p:spPr>
          <a:xfrm>
            <a:off x="685800" y="4736592"/>
            <a:ext cx="3127248" cy="1249334"/>
          </a:xfrm>
          <a:prstGeom prst="rect">
            <a:avLst/>
          </a:prstGeom>
        </p:spPr>
      </p:pic>
      <p:pic>
        <p:nvPicPr>
          <p:cNvPr id="6" name="Image 2" descr="App screenshot, Emergency at 0:39: joints shown in amber because the posture needs fixing">    </p:cNvPr>
          <p:cNvPicPr>
            <a:picLocks noChangeAspect="1"/>
          </p:cNvPicPr>
          <p:nvPr/>
        </p:nvPicPr>
        <p:blipFill>
          <a:blip r:embed="rId3"/>
          <a:stretch>
            <a:fillRect/>
          </a:stretch>
        </p:blipFill>
        <p:spPr>
          <a:xfrm>
            <a:off x="3959352" y="4736592"/>
            <a:ext cx="3127248" cy="1246726"/>
          </a:xfrm>
          <a:prstGeom prst="rect">
            <a:avLst/>
          </a:prstGeom>
        </p:spPr>
      </p:pic>
      <p:sp>
        <p:nvSpPr>
          <p:cNvPr id="7" name="Text 2"/>
          <p:cNvSpPr txBox="1"/>
          <p:nvPr/>
        </p:nvSpPr>
        <p:spPr>
          <a:xfrm>
            <a:off x="685800" y="6035040"/>
            <a:ext cx="6400800" cy="320040"/>
          </a:xfrm>
          <a:prstGeom prst="rect">
            <a:avLst/>
          </a:prstGeom>
          <a:noFill/>
          <a:ln/>
        </p:spPr>
        <p:txBody>
          <a:bodyPr wrap="square" lIns="0" tIns="0" rIns="0" bIns="0" rtlCol="0" anchor="t"/>
          <a:lstStyle/>
          <a:p>
            <a:pPr indent="0" marL="0">
              <a:buNone/>
            </a:pPr>
            <a:r>
              <a:rPr lang="en-US" sz="1800" b="1" dirty="0">
                <a:solidFill>
                  <a:schemeClr val="accent2"/>
                </a:solidFill>
              </a:rPr>
              <a:t>Emergency: </a:t>
            </a:r>
            <a:pPr indent="0" marL="0">
              <a:buNone/>
            </a:pPr>
            <a:r>
              <a:rPr lang="en-US" sz="1800" dirty="0">
                <a:solidFill>
                  <a:schemeClr val="bg1"/>
                </a:solidFill>
              </a:rPr>
              <a:t>joints turn </a:t>
            </a:r>
            <a:pPr indent="0" marL="0">
              <a:buNone/>
            </a:pPr>
            <a:r>
              <a:rPr lang="en-US" sz="1800" dirty="0">
                <a:solidFill>
                  <a:schemeClr val="accent3"/>
                </a:solidFill>
              </a:rPr>
              <a:t>amber</a:t>
            </a:r>
            <a:pPr indent="0" marL="0">
              <a:buNone/>
            </a:pPr>
            <a:r>
              <a:rPr lang="en-US" sz="1800" dirty="0">
                <a:solidFill>
                  <a:schemeClr val="bg1"/>
                </a:solidFill>
              </a:rPr>
              <a:t> when posture needs fixing</a:t>
            </a:r>
            <a:endParaRPr lang="en-US" sz="1800" dirty="0"/>
          </a:p>
        </p:txBody>
      </p:sp>
      <p:sp>
        <p:nvSpPr>
          <p:cNvPr id="8" name="Text 3"/>
          <p:cNvSpPr txBox="1"/>
          <p:nvPr/>
        </p:nvSpPr>
        <p:spPr>
          <a:xfrm>
            <a:off x="7589520" y="1691640"/>
            <a:ext cx="3913632" cy="566928"/>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Watch  </a:t>
            </a:r>
            <a:pPr indent="0" marL="0">
              <a:buNone/>
            </a:pPr>
            <a:r>
              <a:rPr lang="en-US" sz="1800" dirty="0">
                <a:solidFill>
                  <a:schemeClr val="bg1"/>
                </a:solidFill>
              </a:rPr>
              <a:t>the camera finds shoulder, elbow and wrist</a:t>
            </a:r>
            <a:endParaRPr lang="en-US" sz="1800" dirty="0"/>
          </a:p>
        </p:txBody>
      </p:sp>
      <p:sp>
        <p:nvSpPr>
          <p:cNvPr id="9" name="Text 4"/>
          <p:cNvSpPr txBox="1"/>
          <p:nvPr/>
        </p:nvSpPr>
        <p:spPr>
          <a:xfrm>
            <a:off x="7589520" y="2295144"/>
            <a:ext cx="3913632" cy="566928"/>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Count  </a:t>
            </a:r>
            <a:pPr indent="0" marL="0">
              <a:buNone/>
            </a:pPr>
            <a:r>
              <a:rPr lang="en-US" sz="1800" dirty="0">
                <a:solidFill>
                  <a:schemeClr val="bg1"/>
                </a:solidFill>
              </a:rPr>
              <a:t>push rate, elbow angle and pauses</a:t>
            </a:r>
            <a:endParaRPr lang="en-US" sz="1800" dirty="0"/>
          </a:p>
        </p:txBody>
      </p:sp>
      <p:sp>
        <p:nvSpPr>
          <p:cNvPr id="10" name="Text 5"/>
          <p:cNvSpPr txBox="1"/>
          <p:nvPr/>
        </p:nvSpPr>
        <p:spPr>
          <a:xfrm>
            <a:off x="7589520" y="2898648"/>
            <a:ext cx="3913632" cy="566928"/>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Speak  </a:t>
            </a:r>
            <a:pPr indent="0" marL="0">
              <a:buNone/>
            </a:pPr>
            <a:r>
              <a:rPr lang="en-US" sz="1800" dirty="0">
                <a:solidFill>
                  <a:schemeClr val="bg1"/>
                </a:solidFill>
              </a:rPr>
              <a:t>one correction at a time, out loud</a:t>
            </a:r>
            <a:endParaRPr lang="en-US" sz="1800" dirty="0"/>
          </a:p>
        </p:txBody>
      </p:sp>
      <p:pic>
        <p:nvPicPr>
          <p:cNvPr id="11" name="Image 3" descr="Photo of our home-made manikin: a T-shirt over a padded bundle">    </p:cNvPr>
          <p:cNvPicPr>
            <a:picLocks noChangeAspect="1"/>
          </p:cNvPicPr>
          <p:nvPr/>
        </p:nvPicPr>
        <p:blipFill>
          <a:blip r:embed="rId4"/>
          <a:stretch>
            <a:fillRect/>
          </a:stretch>
        </p:blipFill>
        <p:spPr>
          <a:xfrm>
            <a:off x="7589520" y="3520440"/>
            <a:ext cx="1097280" cy="1463040"/>
          </a:xfrm>
          <a:prstGeom prst="rect">
            <a:avLst/>
          </a:prstGeom>
        </p:spPr>
      </p:pic>
      <p:sp>
        <p:nvSpPr>
          <p:cNvPr id="12" name="Text 6"/>
          <p:cNvSpPr txBox="1"/>
          <p:nvPr/>
        </p:nvSpPr>
        <p:spPr>
          <a:xfrm>
            <a:off x="8823960" y="3566160"/>
            <a:ext cx="2679192" cy="1005840"/>
          </a:xfrm>
          <a:prstGeom prst="rect">
            <a:avLst/>
          </a:prstGeom>
          <a:noFill/>
          <a:ln/>
        </p:spPr>
        <p:txBody>
          <a:bodyPr wrap="square" lIns="0" tIns="0" rIns="0" bIns="0" rtlCol="0" anchor="t"/>
          <a:lstStyle/>
          <a:p>
            <a:pPr indent="0" marL="0">
              <a:buNone/>
            </a:pPr>
            <a:r>
              <a:rPr lang="en-US" sz="2000" b="1" dirty="0">
                <a:solidFill>
                  <a:schemeClr val="bg1"/>
                </a:solidFill>
              </a:rPr>
              <a:t>All you need: a phone and a home-made manikin.</a:t>
            </a:r>
            <a:endParaRPr lang="en-US" sz="2000" dirty="0"/>
          </a:p>
        </p:txBody>
      </p:sp>
      <p:sp>
        <p:nvSpPr>
          <p:cNvPr id="13" name="Text 7"/>
          <p:cNvSpPr txBox="1"/>
          <p:nvPr/>
        </p:nvSpPr>
        <p:spPr>
          <a:xfrm>
            <a:off x="7589520" y="5047488"/>
            <a:ext cx="3913632" cy="868680"/>
          </a:xfrm>
          <a:prstGeom prst="rect">
            <a:avLst/>
          </a:prstGeom>
          <a:noFill/>
          <a:ln/>
        </p:spPr>
        <p:txBody>
          <a:bodyPr wrap="square" lIns="0" tIns="0" rIns="0" bIns="0" rtlCol="0" anchor="t"/>
          <a:lstStyle/>
          <a:p>
            <a:pPr indent="0" marL="0">
              <a:buNone/>
            </a:pPr>
            <a:r>
              <a:rPr lang="en-US" sz="1800" dirty="0">
                <a:solidFill>
                  <a:schemeClr val="bg1"/>
                </a:solidFill>
              </a:rPr>
              <a:t>Measures rate, elbows and shoulders over hands. </a:t>
            </a:r>
            <a:pPr indent="0" marL="0">
              <a:buNone/>
            </a:pPr>
            <a:r>
              <a:rPr lang="en-US" sz="1800" dirty="0">
                <a:solidFill>
                  <a:schemeClr val="bg2"/>
                </a:solidFill>
              </a:rPr>
              <a:t>Can't measure depth, force or hand placement.</a:t>
            </a:r>
            <a:endParaRPr lang="en-US" sz="1800" dirty="0"/>
          </a:p>
        </p:txBody>
      </p:sp>
      <p:sp>
        <p:nvSpPr>
          <p:cNvPr id="14" name="Text 8"/>
          <p:cNvSpPr txBox="1"/>
          <p:nvPr/>
        </p:nvSpPr>
        <p:spPr>
          <a:xfrm>
            <a:off x="7589520" y="5961888"/>
            <a:ext cx="3913632" cy="329184"/>
          </a:xfrm>
          <a:prstGeom prst="rect">
            <a:avLst/>
          </a:prstGeom>
          <a:noFill/>
          <a:ln/>
        </p:spPr>
        <p:txBody>
          <a:bodyPr wrap="square" lIns="0" tIns="0" rIns="0" bIns="0" rtlCol="0" anchor="t"/>
          <a:lstStyle/>
          <a:p>
            <a:pPr indent="0" marL="0">
              <a:buNone/>
            </a:pPr>
            <a:r>
              <a:rPr lang="en-US" sz="1800" dirty="0">
                <a:solidFill>
                  <a:schemeClr val="accent1"/>
                </a:solidFill>
              </a:rPr>
              <a:t>Coaches in 10 languages, fully offline.</a:t>
            </a:r>
            <a:endParaRPr lang="en-US" sz="18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1418">
              <a:alpha val="30000"/>
            </a:srgbClr>
          </a:solidFill>
          <a:ln/>
        </p:spPr>
      </p:sp>
      <p:sp>
        <p:nvSpPr>
          <p:cNvPr id="3"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Built in 24 hours: 596 commits</a:t>
            </a:r>
            <a:endParaRPr lang="en-US" sz="4000" dirty="0"/>
          </a:p>
        </p:txBody>
      </p:sp>
      <p:sp>
        <p:nvSpPr>
          <p:cNvPr id="4" name="Text 2"/>
          <p:cNvSpPr txBox="1"/>
          <p:nvPr/>
        </p:nvSpPr>
        <p:spPr>
          <a:xfrm>
            <a:off x="9966960" y="164592"/>
            <a:ext cx="1536192" cy="274320"/>
          </a:xfrm>
          <a:prstGeom prst="rect">
            <a:avLst/>
          </a:prstGeom>
          <a:noFill/>
          <a:ln/>
        </p:spPr>
        <p:txBody>
          <a:bodyPr wrap="square" lIns="0" tIns="0" rIns="0" bIns="0" rtlCol="0" anchor="t"/>
          <a:lstStyle/>
          <a:p>
            <a:pPr algn="r" indent="0" marL="0">
              <a:buNone/>
            </a:pPr>
            <a:r>
              <a:rPr lang="en-US" sz="1200" i="1" dirty="0">
                <a:solidFill>
                  <a:schemeClr val="bg2"/>
                </a:solidFill>
              </a:rPr>
              <a:t>Illustration</a:t>
            </a:r>
            <a:endParaRPr lang="en-US" sz="1200" dirty="0"/>
          </a:p>
        </p:txBody>
      </p:sp>
      <p:sp>
        <p:nvSpPr>
          <p:cNvPr id="5" name="Text 3"/>
          <p:cNvSpPr txBox="1"/>
          <p:nvPr/>
        </p:nvSpPr>
        <p:spPr>
          <a:xfrm>
            <a:off x="685800" y="2011680"/>
            <a:ext cx="2743200" cy="320040"/>
          </a:xfrm>
          <a:prstGeom prst="rect">
            <a:avLst/>
          </a:prstGeom>
          <a:noFill/>
          <a:ln/>
        </p:spPr>
        <p:txBody>
          <a:bodyPr wrap="square" lIns="0" tIns="0" rIns="0" bIns="0" rtlCol="0" anchor="t"/>
          <a:lstStyle/>
          <a:p>
            <a:pPr indent="0" marL="0">
              <a:buNone/>
            </a:pPr>
            <a:r>
              <a:rPr lang="en-US" sz="1600" b="1" spc="300" kern="0" dirty="0">
                <a:solidFill>
                  <a:schemeClr val="accent3"/>
                </a:solidFill>
                <a:latin typeface="Consolas" pitchFamily="34" charset="0"/>
                <a:ea typeface="Consolas" pitchFamily="34" charset="-122"/>
                <a:cs typeface="Consolas" pitchFamily="34" charset="-120"/>
              </a:rPr>
              <a:t>FROM</a:t>
            </a:r>
            <a:endParaRPr lang="en-US" sz="1600" dirty="0"/>
          </a:p>
        </p:txBody>
      </p:sp>
      <p:sp>
        <p:nvSpPr>
          <p:cNvPr id="6" name="Text 4"/>
          <p:cNvSpPr txBox="1"/>
          <p:nvPr/>
        </p:nvSpPr>
        <p:spPr>
          <a:xfrm>
            <a:off x="685800" y="2377440"/>
            <a:ext cx="6766560" cy="914400"/>
          </a:xfrm>
          <a:prstGeom prst="rect">
            <a:avLst/>
          </a:prstGeom>
          <a:noFill/>
          <a:ln/>
        </p:spPr>
        <p:txBody>
          <a:bodyPr wrap="square" lIns="0" tIns="0" rIns="0" bIns="0" rtlCol="0" anchor="t"/>
          <a:lstStyle/>
          <a:p>
            <a:pPr indent="0" marL="0">
              <a:buNone/>
            </a:pPr>
            <a:r>
              <a:rPr lang="en-US" sz="2400" dirty="0">
                <a:solidFill>
                  <a:schemeClr val="bg1"/>
                </a:solidFill>
              </a:rPr>
              <a:t>Our first real run on a phone crashed mid-session, and the recording was lost.</a:t>
            </a:r>
            <a:endParaRPr lang="en-US" sz="2400" dirty="0"/>
          </a:p>
        </p:txBody>
      </p:sp>
      <p:sp>
        <p:nvSpPr>
          <p:cNvPr id="7" name="Text 5"/>
          <p:cNvSpPr txBox="1"/>
          <p:nvPr/>
        </p:nvSpPr>
        <p:spPr>
          <a:xfrm>
            <a:off x="685800" y="3566160"/>
            <a:ext cx="2743200" cy="320040"/>
          </a:xfrm>
          <a:prstGeom prst="rect">
            <a:avLst/>
          </a:prstGeom>
          <a:noFill/>
          <a:ln/>
        </p:spPr>
        <p:txBody>
          <a:bodyPr wrap="square" lIns="0" tIns="0" rIns="0" bIns="0" rtlCol="0" anchor="t"/>
          <a:lstStyle/>
          <a:p>
            <a:pPr indent="0" marL="0">
              <a:buNone/>
            </a:pPr>
            <a:r>
              <a:rPr lang="en-US" sz="1600" b="1" spc="300" kern="0" dirty="0">
                <a:solidFill>
                  <a:schemeClr val="accent1"/>
                </a:solidFill>
                <a:latin typeface="Consolas" pitchFamily="34" charset="0"/>
                <a:ea typeface="Consolas" pitchFamily="34" charset="-122"/>
                <a:cs typeface="Consolas" pitchFamily="34" charset="-120"/>
              </a:rPr>
              <a:t>TO</a:t>
            </a:r>
            <a:endParaRPr lang="en-US" sz="1600" dirty="0"/>
          </a:p>
        </p:txBody>
      </p:sp>
      <p:sp>
        <p:nvSpPr>
          <p:cNvPr id="8" name="Text 6"/>
          <p:cNvSpPr txBox="1"/>
          <p:nvPr/>
        </p:nvSpPr>
        <p:spPr>
          <a:xfrm>
            <a:off x="685800" y="3931920"/>
            <a:ext cx="6766560" cy="914400"/>
          </a:xfrm>
          <a:prstGeom prst="rect">
            <a:avLst/>
          </a:prstGeom>
          <a:noFill/>
          <a:ln/>
        </p:spPr>
        <p:txBody>
          <a:bodyPr wrap="square" lIns="0" tIns="0" rIns="0" bIns="0" rtlCol="0" anchor="t"/>
          <a:lstStyle/>
          <a:p>
            <a:pPr indent="0" marL="0">
              <a:buNone/>
            </a:pPr>
            <a:r>
              <a:rPr lang="en-US" sz="2400" dirty="0">
                <a:solidFill>
                  <a:schemeClr val="bg1"/>
                </a:solidFill>
              </a:rPr>
              <a:t>A working prototype: the crash fixed, camera load capped, and heat and battery logged on every run.</a:t>
            </a:r>
            <a:endParaRPr lang="en-US" sz="2400" dirty="0"/>
          </a:p>
        </p:txBody>
      </p:sp>
      <p:sp>
        <p:nvSpPr>
          <p:cNvPr id="9" name="Shape 7"/>
          <p:cNvSpPr/>
          <p:nvPr/>
        </p:nvSpPr>
        <p:spPr>
          <a:xfrm>
            <a:off x="7863840" y="2057400"/>
            <a:ext cx="0" cy="3291840"/>
          </a:xfrm>
          <a:prstGeom prst="line">
            <a:avLst/>
          </a:prstGeom>
          <a:noFill/>
          <a:ln w="12700">
            <a:solidFill>
              <a:schemeClr val="accent4"/>
            </a:solidFill>
            <a:prstDash val="solid"/>
          </a:ln>
        </p:spPr>
      </p:sp>
      <p:sp>
        <p:nvSpPr>
          <p:cNvPr id="10" name="Text 8"/>
          <p:cNvSpPr txBox="1"/>
          <p:nvPr/>
        </p:nvSpPr>
        <p:spPr>
          <a:xfrm>
            <a:off x="8229600" y="1920240"/>
            <a:ext cx="3291840" cy="914400"/>
          </a:xfrm>
          <a:prstGeom prst="rect">
            <a:avLst/>
          </a:prstGeom>
          <a:noFill/>
          <a:ln/>
        </p:spPr>
        <p:txBody>
          <a:bodyPr wrap="square" lIns="0" tIns="0" rIns="0" bIns="0" rtlCol="0" anchor="t"/>
          <a:lstStyle/>
          <a:p>
            <a:pPr indent="0" marL="0">
              <a:buNone/>
            </a:pPr>
            <a:r>
              <a:rPr lang="en-US" sz="6000" b="1" dirty="0">
                <a:solidFill>
                  <a:schemeClr val="accent1"/>
                </a:solidFill>
                <a:latin typeface="Consolas" pitchFamily="34" charset="0"/>
                <a:ea typeface="Consolas" pitchFamily="34" charset="-122"/>
                <a:cs typeface="Consolas" pitchFamily="34" charset="-120"/>
              </a:rPr>
              <a:t>399</a:t>
            </a:r>
            <a:endParaRPr lang="en-US" sz="6000" dirty="0"/>
          </a:p>
        </p:txBody>
      </p:sp>
      <p:sp>
        <p:nvSpPr>
          <p:cNvPr id="11" name="Text 9"/>
          <p:cNvSpPr txBox="1"/>
          <p:nvPr/>
        </p:nvSpPr>
        <p:spPr>
          <a:xfrm>
            <a:off x="8229600" y="2834640"/>
            <a:ext cx="3291840" cy="640080"/>
          </a:xfrm>
          <a:prstGeom prst="rect">
            <a:avLst/>
          </a:prstGeom>
          <a:noFill/>
          <a:ln/>
        </p:spPr>
        <p:txBody>
          <a:bodyPr wrap="square" lIns="0" tIns="0" rIns="0" bIns="0" rtlCol="0" anchor="t"/>
          <a:lstStyle/>
          <a:p>
            <a:pPr indent="0" marL="0">
              <a:buNone/>
            </a:pPr>
            <a:r>
              <a:rPr lang="en-US" sz="1800" dirty="0">
                <a:solidFill>
                  <a:schemeClr val="bg2"/>
                </a:solidFill>
              </a:rPr>
              <a:t>tests passing, 0 failing</a:t>
            </a:r>
            <a:endParaRPr lang="en-US" sz="1800" dirty="0"/>
          </a:p>
        </p:txBody>
      </p:sp>
      <p:sp>
        <p:nvSpPr>
          <p:cNvPr id="12" name="Text 10"/>
          <p:cNvSpPr txBox="1"/>
          <p:nvPr/>
        </p:nvSpPr>
        <p:spPr>
          <a:xfrm>
            <a:off x="8229600" y="3703320"/>
            <a:ext cx="3291840" cy="914400"/>
          </a:xfrm>
          <a:prstGeom prst="rect">
            <a:avLst/>
          </a:prstGeom>
          <a:noFill/>
          <a:ln/>
        </p:spPr>
        <p:txBody>
          <a:bodyPr wrap="square" lIns="0" tIns="0" rIns="0" bIns="0" rtlCol="0" anchor="t"/>
          <a:lstStyle/>
          <a:p>
            <a:pPr indent="0" marL="0">
              <a:buNone/>
            </a:pPr>
            <a:r>
              <a:rPr lang="en-US" sz="6000" b="1" dirty="0">
                <a:solidFill>
                  <a:schemeClr val="accent1"/>
                </a:solidFill>
                <a:latin typeface="Consolas" pitchFamily="34" charset="0"/>
                <a:ea typeface="Consolas" pitchFamily="34" charset="-122"/>
                <a:cs typeface="Consolas" pitchFamily="34" charset="-120"/>
              </a:rPr>
              <a:t>7</a:t>
            </a:r>
            <a:endParaRPr lang="en-US" sz="6000" dirty="0"/>
          </a:p>
        </p:txBody>
      </p:sp>
      <p:sp>
        <p:nvSpPr>
          <p:cNvPr id="13" name="Text 11"/>
          <p:cNvSpPr txBox="1"/>
          <p:nvPr/>
        </p:nvSpPr>
        <p:spPr>
          <a:xfrm>
            <a:off x="8229600" y="4617720"/>
            <a:ext cx="3291840" cy="640080"/>
          </a:xfrm>
          <a:prstGeom prst="rect">
            <a:avLst/>
          </a:prstGeom>
          <a:noFill/>
          <a:ln/>
        </p:spPr>
        <p:txBody>
          <a:bodyPr wrap="square" lIns="0" tIns="0" rIns="0" bIns="0" rtlCol="0" anchor="t"/>
          <a:lstStyle/>
          <a:p>
            <a:pPr indent="0" marL="0">
              <a:buNone/>
            </a:pPr>
            <a:r>
              <a:rPr lang="en-US" sz="1800" dirty="0">
                <a:solidFill>
                  <a:schemeClr val="bg2"/>
                </a:solidFill>
              </a:rPr>
              <a:t>real phone recordings must replay byte for byte</a:t>
            </a:r>
            <a:endParaRPr lang="en-US" sz="18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1418">
              <a:alpha val="30000"/>
            </a:srgbClr>
          </a:solidFill>
          <a:ln/>
        </p:spPr>
      </p:sp>
      <p:sp>
        <p:nvSpPr>
          <p:cNvPr id="3" name="Text 0"/>
          <p:cNvSpPr/>
          <p:nvPr>
            <p:ph idx="100" type="title" hasCustomPrompt="1"/>
          </p:nvPr>
        </p:nvSpPr>
        <p:spPr>
          <a:xfrm>
            <a:off x="685800" y="1097280"/>
            <a:ext cx="7315200" cy="1280160"/>
          </a:xfrm>
          <a:prstGeom prst="rect">
            <a:avLst/>
          </a:prstGeom>
          <a:noFill/>
          <a:ln/>
        </p:spPr>
        <p:txBody>
          <a:bodyPr wrap="square" lIns="0" tIns="0" rIns="0" bIns="0" rtlCol="0" anchor="t"/>
          <a:lstStyle/>
          <a:p>
            <a:pPr algn="l" indent="0" marL="0">
              <a:buNone/>
            </a:pPr>
            <a:r>
              <a:rPr lang="en-US" sz="8000" b="1" dirty="0">
                <a:solidFill>
                  <a:schemeClr val="bg1"/>
                </a:solidFill>
                <a:latin typeface="Cambria" pitchFamily="34" charset="0"/>
                <a:ea typeface="Cambria" pitchFamily="34" charset="-122"/>
                <a:cs typeface="Cambria" pitchFamily="34" charset="-120"/>
              </a:rPr>
              <a:t>Live demo</a:t>
            </a:r>
            <a:endParaRPr lang="en-US" sz="8000" dirty="0"/>
          </a:p>
        </p:txBody>
      </p:sp>
      <p:sp>
        <p:nvSpPr>
          <p:cNvPr id="4" name="Text 2"/>
          <p:cNvSpPr txBox="1"/>
          <p:nvPr/>
        </p:nvSpPr>
        <p:spPr>
          <a:xfrm>
            <a:off x="9966960" y="164592"/>
            <a:ext cx="1536192" cy="274320"/>
          </a:xfrm>
          <a:prstGeom prst="rect">
            <a:avLst/>
          </a:prstGeom>
          <a:noFill/>
          <a:ln/>
        </p:spPr>
        <p:txBody>
          <a:bodyPr wrap="square" lIns="0" tIns="0" rIns="0" bIns="0" rtlCol="0" anchor="t"/>
          <a:lstStyle/>
          <a:p>
            <a:pPr algn="r" indent="0" marL="0">
              <a:buNone/>
            </a:pPr>
            <a:r>
              <a:rPr lang="en-US" sz="1200" i="1" dirty="0">
                <a:solidFill>
                  <a:schemeClr val="bg2"/>
                </a:solidFill>
              </a:rPr>
              <a:t>Illustration</a:t>
            </a:r>
            <a:endParaRPr lang="en-US" sz="1200" dirty="0"/>
          </a:p>
        </p:txBody>
      </p:sp>
      <p:sp>
        <p:nvSpPr>
          <p:cNvPr id="5" name="Text 3"/>
          <p:cNvSpPr txBox="1"/>
          <p:nvPr/>
        </p:nvSpPr>
        <p:spPr>
          <a:xfrm>
            <a:off x="685800" y="2606040"/>
            <a:ext cx="7498080" cy="822960"/>
          </a:xfrm>
          <a:prstGeom prst="rect">
            <a:avLst/>
          </a:prstGeom>
          <a:noFill/>
          <a:ln/>
        </p:spPr>
        <p:txBody>
          <a:bodyPr wrap="square" lIns="0" tIns="0" rIns="0" bIns="0" rtlCol="0" anchor="t"/>
          <a:lstStyle/>
          <a:p>
            <a:pPr indent="0" marL="0">
              <a:buNone/>
            </a:pPr>
            <a:r>
              <a:rPr lang="en-US" sz="2400" b="1" dirty="0">
                <a:solidFill>
                  <a:schemeClr val="accent1"/>
                </a:solidFill>
              </a:rPr>
              <a:t>Next: </a:t>
            </a:r>
            <a:pPr indent="0" marL="0">
              <a:buNone/>
            </a:pPr>
            <a:r>
              <a:rPr lang="en-US" sz="2400" dirty="0">
                <a:solidFill>
                  <a:schemeClr val="bg1"/>
                </a:solidFill>
              </a:rPr>
              <a:t>hand-counted accuracy runs, review by CPR trainers, college pilots.</a:t>
            </a:r>
            <a:endParaRPr lang="en-US" sz="2400" dirty="0"/>
          </a:p>
        </p:txBody>
      </p:sp>
      <p:sp>
        <p:nvSpPr>
          <p:cNvPr id="6" name="Text 4"/>
          <p:cNvSpPr txBox="1"/>
          <p:nvPr/>
        </p:nvSpPr>
        <p:spPr>
          <a:xfrm>
            <a:off x="685800" y="3931920"/>
            <a:ext cx="7498080" cy="822960"/>
          </a:xfrm>
          <a:prstGeom prst="rect">
            <a:avLst/>
          </a:prstGeom>
          <a:noFill/>
          <a:ln/>
        </p:spPr>
        <p:txBody>
          <a:bodyPr wrap="square" lIns="0" tIns="0" rIns="0" bIns="0" rtlCol="0" anchor="t"/>
          <a:lstStyle/>
          <a:p>
            <a:pPr indent="0" marL="0">
              <a:buNone/>
            </a:pPr>
            <a:r>
              <a:rPr lang="en-US" sz="2200" b="1" dirty="0">
                <a:solidFill>
                  <a:schemeClr val="accent2"/>
                </a:solidFill>
              </a:rPr>
              <a:t>Not a medical device. </a:t>
            </a:r>
            <a:pPr indent="0" marL="0">
              <a:buNone/>
            </a:pPr>
            <a:r>
              <a:rPr lang="en-US" sz="2200" dirty="0">
                <a:solidFill>
                  <a:schemeClr val="bg1"/>
                </a:solidFill>
              </a:rPr>
              <a:t>In an emergency, call 112 (108 for an ambulance) and start CPR.</a:t>
            </a:r>
            <a:endParaRPr lang="en-US" sz="2200" dirty="0"/>
          </a:p>
        </p:txBody>
      </p:sp>
      <p:pic>
        <p:nvPicPr>
          <p:cNvPr id="7" name="Image 0" descr="QR code linking to github.com/VivekTiwary-25/Zero_flux">    </p:cNvPr>
          <p:cNvPicPr>
            <a:picLocks noChangeAspect="1"/>
          </p:cNvPicPr>
          <p:nvPr/>
        </p:nvPicPr>
        <p:blipFill>
          <a:blip r:embed="rId2"/>
          <a:stretch>
            <a:fillRect/>
          </a:stretch>
        </p:blipFill>
        <p:spPr>
          <a:xfrm>
            <a:off x="9006840" y="1828800"/>
            <a:ext cx="2496312" cy="2496312"/>
          </a:xfrm>
          <a:prstGeom prst="rect">
            <a:avLst/>
          </a:prstGeom>
        </p:spPr>
      </p:pic>
      <p:sp>
        <p:nvSpPr>
          <p:cNvPr id="8" name="Text 5"/>
          <p:cNvSpPr txBox="1"/>
          <p:nvPr/>
        </p:nvSpPr>
        <p:spPr>
          <a:xfrm>
            <a:off x="8412480" y="4434840"/>
            <a:ext cx="3291840" cy="320040"/>
          </a:xfrm>
          <a:prstGeom prst="rect">
            <a:avLst/>
          </a:prstGeom>
          <a:noFill/>
          <a:ln/>
        </p:spPr>
        <p:txBody>
          <a:bodyPr wrap="square" lIns="0" tIns="0" rIns="0" bIns="0" rtlCol="0" anchor="t"/>
          <a:lstStyle/>
          <a:p>
            <a:pPr algn="ctr" indent="0" marL="0">
              <a:buNone/>
            </a:pPr>
            <a:r>
              <a:rPr lang="en-US" sz="1800" dirty="0">
                <a:solidFill>
                  <a:schemeClr val="bg1"/>
                </a:solidFill>
              </a:rPr>
              <a:t>Code and test records</a:t>
            </a:r>
            <a:endParaRPr lang="en-US" sz="1800" dirty="0"/>
          </a:p>
        </p:txBody>
      </p:sp>
      <p:sp>
        <p:nvSpPr>
          <p:cNvPr id="9" name="Text 6"/>
          <p:cNvSpPr txBox="1"/>
          <p:nvPr/>
        </p:nvSpPr>
        <p:spPr>
          <a:xfrm>
            <a:off x="8229600" y="4818888"/>
            <a:ext cx="3611880" cy="274320"/>
          </a:xfrm>
          <a:prstGeom prst="rect">
            <a:avLst/>
          </a:prstGeom>
          <a:noFill/>
          <a:ln/>
        </p:spPr>
        <p:txBody>
          <a:bodyPr wrap="square" lIns="0" tIns="0" rIns="0" bIns="0" rtlCol="0" anchor="t"/>
          <a:lstStyle/>
          <a:p>
            <a:pPr algn="ctr" indent="0" marL="0">
              <a:buNone/>
            </a:pPr>
            <a:r>
              <a:rPr lang="en-US" sz="1200" dirty="0">
                <a:solidFill>
                  <a:schemeClr val="bg1"/>
                </a:solidFill>
                <a:latin typeface="Consolas" pitchFamily="34" charset="0"/>
                <a:ea typeface="Consolas" pitchFamily="34" charset="-122"/>
                <a:cs typeface="Consolas" pitchFamily="34" charset="-120"/>
              </a:rPr>
              <a:t>github.com/VivekTiwary-25/Zero_flux</a:t>
            </a:r>
            <a:endParaRPr lang="en-US" sz="1200" dirty="0"/>
          </a:p>
        </p:txBody>
      </p:sp>
      <p:sp>
        <p:nvSpPr>
          <p:cNvPr id="10" name="Text 7"/>
          <p:cNvSpPr txBox="1"/>
          <p:nvPr/>
        </p:nvSpPr>
        <p:spPr>
          <a:xfrm>
            <a:off x="685800" y="5760720"/>
            <a:ext cx="7315200" cy="365760"/>
          </a:xfrm>
          <a:prstGeom prst="rect">
            <a:avLst/>
          </a:prstGeom>
          <a:noFill/>
          <a:ln/>
        </p:spPr>
        <p:txBody>
          <a:bodyPr wrap="square" lIns="0" tIns="0" rIns="0" bIns="0" rtlCol="0" anchor="t"/>
          <a:lstStyle/>
          <a:p>
            <a:pPr indent="0" marL="0">
              <a:buNone/>
            </a:pPr>
            <a:r>
              <a:rPr lang="en-US" sz="1800" b="1" dirty="0">
                <a:solidFill>
                  <a:schemeClr val="bg1"/>
                </a:solidFill>
              </a:rPr>
              <a:t>Team Zero Flux</a:t>
            </a:r>
            <a:pPr indent="0" marL="0">
              <a:buNone/>
            </a:pPr>
            <a:r>
              <a:rPr lang="en-US" sz="1800" dirty="0">
                <a:solidFill>
                  <a:schemeClr val="bg2"/>
                </a:solidFill>
              </a:rPr>
              <a:t>   Vivek · Pratham · Prabal · Moksh</a:t>
            </a:r>
            <a:endParaRPr lang="en-US" sz="1800" dirty="0"/>
          </a:p>
        </p:txBody>
      </p:sp>
    </p:spTree>
  </p:cSld>
  <p:clrMapOvr>
    <a:masterClrMapping/>
  </p:clrMapOvr>
</p:sld>
</file>

<file path=ppt/theme/theme1.xml><?xml version="1.0" encoding="utf-8"?>
<a:theme xmlns:a="http://schemas.openxmlformats.org/drawingml/2006/main" name="CPR Coach Ink">
  <a:themeElements>
    <a:clrScheme name="CPR Coach Ink">
      <a:dk1>
        <a:srgbClr val="0E1418"/>
      </a:dk1>
      <a:lt1>
        <a:srgbClr val="EEF2F5"/>
      </a:lt1>
      <a:dk2>
        <a:srgbClr val="151D23"/>
      </a:dk2>
      <a:lt2>
        <a:srgbClr val="93A3B5"/>
      </a:lt2>
      <a:accent1>
        <a:srgbClr val="2DD4BF"/>
      </a:accent1>
      <a:accent2>
        <a:srgbClr val="FF3B5C"/>
      </a:accent2>
      <a:accent3>
        <a:srgbClr val="FBBF24"/>
      </a:accent3>
      <a:accent4>
        <a:srgbClr val="2A3642"/>
      </a:accent4>
      <a:accent5>
        <a:srgbClr val="1A242C"/>
      </a:accent5>
      <a:accent6>
        <a:srgbClr val="5EEAD4"/>
      </a:accent6>
      <a:hlink>
        <a:srgbClr val="5EEAD4"/>
      </a:hlink>
      <a:folHlink>
        <a:srgbClr val="93A3B5"/>
      </a:folHlink>
    </a:clrScheme>
    <a:fontScheme name="CPR Coach In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CPR Coach — Anvathon 2026</dc:title>
  <dc:subject>PptxGenJS Presentation</dc:subject>
  <dc:creator>Team Zero Flux</dc:creator>
  <cp:lastModifiedBy>Team Zero Flux</cp:lastModifiedBy>
  <cp:revision>1</cp:revision>
  <dcterms:created xsi:type="dcterms:W3CDTF">2026-10-31T07:06:21Z</dcterms:created>
  <dcterms:modified xsi:type="dcterms:W3CDTF">2026-10-31T07:06:21Z</dcterms:modified>
</cp:coreProperties>
</file>