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de7024f-2ec8-bd86-88d6-07c915c06df2}">
          <p14:sldIdLst>
            <p14:sldId id="256"/>
          </p14:sldIdLst>
        </p14:section>
        <p14:section name="Problem" id="{bf067aa5-88e9-0332-c1ae-125bb8341afe}">
          <p14:sldIdLst>
            <p14:sldId id="257"/>
            <p14:sldId id="258"/>
            <p14:sldId id="259"/>
          </p14:sldIdLst>
        </p14:section>
        <p14:section name="Solution" id="{b1723a90-b5dd-d30f-d8e0-14fce435ddbb}">
          <p14:sldIdLst>
            <p14:sldId id="260"/>
            <p14:sldId id="261"/>
            <p14:sldId id="262"/>
            <p14:sldId id="263"/>
          </p14:sldIdLst>
        </p14:section>
        <p14:section name="Demo" id="{dc000dd3-9e47-e5a7-e474-7704550b4fa3}">
          <p14:sldIdLst>
            <p14:sldId id="264"/>
          </p14:sldIdLst>
        </p14:section>
        <p14:section name="Evidence" id="{87574a36-3027-847c-24b9-8db3a3bdafdb}">
          <p14:sldIdLst>
            <p14:sldId id="265"/>
            <p14:sldId id="266"/>
          </p14:sldIdLst>
        </p14:section>
        <p14:section name="Close" id="{a82b2ffa-8c4e-a68a-6c50-2ad61b0d021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Coach is a phone app that watches you do CPR on a practice cushion and tells you, out loud, what to fix. The line on screen is the push rhythm the app reads: flat when nobody is pushing, steady at 110 a minute when someone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2021 Indian Heart Journal study of 205 cardiac-arrest patients at one hospital, fewer than one in ten got CPR from anyone nearby, and 1.4 percent left hospital alive. The American Heart Association says immediate CPR can double or triple the chance of survival. The flat line is what most of these patients got.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few people say they know CPR, and the ones who learn it lose the skill fast: the 2025 AHA guidelines say skills can start fading within about three months. So training once isn't enough. People need to practise, and practice only helps if something tells you what you're doing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during training is a top-grade recommendation in the 2025 AHA guidelines. But a video can't see you, a metronome only gives a beat, and real feedback today needs a sensor manikin. CPR Coach gives feedback on rate, elbows and pauses with just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sits at the rescuer's side. It watches the arm joints, counts the push rate, elbow bend and pauses, and says one short correction at a time in the rescuer's language. Here it has seen 96 pushes a minute, below the 100 to 120 target, so it says push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all on the phone. CameraX frames go to MediaPipe's pose model. Our Kotlin code turns the wrist's up-and-down motion into a rate, and works out elbow angle and pauses. Rules wait for a steady reading, then play one pre-recorded clip over a 110 a minute beat. The app has no internet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is where you learn: a two-minute session with live readings, one spoken correction at a time, and a scorecard that says how long the rate was actually measured. Emergency is one tap: the beat and spoken steps start immediately and never wait for the camera. Call 112 only opens the dialer, and there's an AED reminder at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picker lists ten languages, each in its own script, and coaching clips exist for all ten. English is the language we've checked; the other nine were machine-translated and still need native-speaker review before we'd call them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demo: the CPR guide and its AED explainer, Practise on a cushion so you can hear the corrections, then Emergency: one tap, beat and steps, Call 112 opens the dialer and we cancel it. Hold to stop shows the summary for the ambulance crew. A dash there means not measured, not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estimates rate, elbow angle, pauses, and how good its tracking is. One camera can't measure depth, force, recoil or exact hand placement, so we don't pretend to. When it loses sight of the arms, it shows a dash instead of guessing. Hand-counted accuracy runs are next; until they're done we don't quote an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this in 24 hours with a swarm of AI coding agents across four PCs: one lead that reads every diff and thirteen workers. Nothing merges unless all unit tests pass, 399 right now, and seven real phone recordings replay through Practise with byte-identical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count it by hand to get a real accuracy number, then put it in front of certified CPR trainers, then pilot it with NSS units, first-aid clubs and schools. The code and our test records are open: scan the code. And the line that matters most: this is not a medical device. In a real emergency, call 112 or 108 and start CPR.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_BARE">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rtlCol="0"/>
          <a:lstStyle>
            <a:lvl1pPr algn="l" indent="0" marL="0">
              <a:buNone/>
              <a:defRPr lang="en-US" sz="8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CPR Coach</a:t>
            </a:r>
            <a:endParaRPr lang="en-US" sz="8000" dirty="0"/>
          </a:p>
        </p:txBody>
      </p:sp>
      <p:sp>
        <p:nvSpPr>
          <p:cNvPr id="3" name="Text 1"/>
          <p:cNvSpPr txBox="1"/>
          <p:nvPr/>
        </p:nvSpPr>
        <p:spPr>
          <a:xfrm>
            <a:off x="685800" y="2514600"/>
            <a:ext cx="6949440" cy="914400"/>
          </a:xfrm>
          <a:prstGeom prst="rect">
            <a:avLst/>
          </a:prstGeom>
          <a:noFill/>
          <a:ln/>
        </p:spPr>
        <p:txBody>
          <a:bodyPr wrap="square" lIns="0" tIns="0" rIns="0" bIns="0" rtlCol="0" anchor="t"/>
          <a:lstStyle/>
          <a:p>
            <a:pPr indent="0" marL="0">
              <a:buNone/>
            </a:pPr>
            <a:r>
              <a:rPr lang="en-US" sz="2800" dirty="0">
                <a:solidFill>
                  <a:schemeClr val="bg2"/>
                </a:solidFill>
              </a:rPr>
              <a:t>A phone that watches your CPR and tells you what to fix.</a:t>
            </a:r>
            <a:endParaRPr lang="en-US" sz="2800" dirty="0"/>
          </a:p>
        </p:txBody>
      </p:sp>
      <p:pic>
        <p:nvPicPr>
          <p:cNvPr id="4" name="Image 0" descr="A flat line that turns into a steady push rhythm">    </p:cNvPr>
          <p:cNvPicPr>
            <a:picLocks noChangeAspect="1"/>
          </p:cNvPicPr>
          <p:nvPr/>
        </p:nvPicPr>
        <p:blipFill>
          <a:blip r:embed="rId1"/>
          <a:stretch>
            <a:fillRect/>
          </a:stretch>
        </p:blipFill>
        <p:spPr>
          <a:xfrm>
            <a:off x="0" y="3749040"/>
            <a:ext cx="12191695" cy="914400"/>
          </a:xfrm>
          <a:prstGeom prst="rect">
            <a:avLst/>
          </a:prstGeom>
        </p:spPr>
      </p:pic>
      <p:sp>
        <p:nvSpPr>
          <p:cNvPr id="5" name="Text 2"/>
          <p:cNvSpPr txBox="1"/>
          <p:nvPr/>
        </p:nvSpPr>
        <p:spPr>
          <a:xfrm>
            <a:off x="10149840" y="3337560"/>
            <a:ext cx="1371600" cy="320040"/>
          </a:xfrm>
          <a:prstGeom prst="rect">
            <a:avLst/>
          </a:prstGeom>
          <a:noFill/>
          <a:ln/>
        </p:spPr>
        <p:txBody>
          <a:bodyPr wrap="square" lIns="0" tIns="0" rIns="0" bIns="0" rtlCol="0" anchor="t"/>
          <a:lstStyle/>
          <a:p>
            <a:pPr algn="r" indent="0" marL="0">
              <a:buNone/>
            </a:pPr>
            <a:r>
              <a:rPr lang="en-US" sz="1600" b="1" dirty="0">
                <a:solidFill>
                  <a:schemeClr val="accent1"/>
                </a:solidFill>
                <a:latin typeface="Consolas" pitchFamily="34" charset="0"/>
                <a:ea typeface="Consolas" pitchFamily="34" charset="-122"/>
                <a:cs typeface="Consolas" pitchFamily="34" charset="-120"/>
              </a:rPr>
              <a:t>110 /min</a:t>
            </a:r>
            <a:endParaRPr lang="en-US" sz="1600" dirty="0"/>
          </a:p>
        </p:txBody>
      </p:sp>
      <p:sp>
        <p:nvSpPr>
          <p:cNvPr id="6" name="Text 3"/>
          <p:cNvSpPr txBox="1"/>
          <p:nvPr/>
        </p:nvSpPr>
        <p:spPr>
          <a:xfrm>
            <a:off x="685800" y="5760720"/>
            <a:ext cx="64008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7" name="Text 4"/>
          <p:cNvSpPr txBox="1"/>
          <p:nvPr/>
        </p:nvSpPr>
        <p:spPr>
          <a:xfrm>
            <a:off x="7315200" y="5797296"/>
            <a:ext cx="4187952" cy="32004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ANVATHON 2026 · OPEN INNOVATION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Only 1 in 10 people who collapsed got CPR from someone nearby</a:t>
            </a:r>
            <a:endParaRPr lang="en-US" sz="4000" dirty="0"/>
          </a:p>
        </p:txBody>
      </p:sp>
      <p:sp>
        <p:nvSpPr>
          <p:cNvPr id="3" name="Text 1"/>
          <p:cNvSpPr txBox="1"/>
          <p:nvPr/>
        </p:nvSpPr>
        <p:spPr>
          <a:xfrm>
            <a:off x="640080" y="2103120"/>
            <a:ext cx="5486400" cy="2377440"/>
          </a:xfrm>
          <a:prstGeom prst="rect">
            <a:avLst/>
          </a:prstGeom>
          <a:noFill/>
          <a:ln/>
        </p:spPr>
        <p:txBody>
          <a:bodyPr wrap="square" lIns="0" tIns="0" rIns="0" bIns="0" rtlCol="0" anchor="t"/>
          <a:lstStyle/>
          <a:p>
            <a:pPr indent="0" marL="0">
              <a:buNone/>
            </a:pPr>
            <a:r>
              <a:rPr lang="en-US" sz="15000" b="1" dirty="0">
                <a:solidFill>
                  <a:schemeClr val="accent3"/>
                </a:solidFill>
                <a:latin typeface="Consolas" pitchFamily="34" charset="0"/>
                <a:ea typeface="Consolas" pitchFamily="34" charset="-122"/>
                <a:cs typeface="Consolas" pitchFamily="34" charset="-120"/>
              </a:rPr>
              <a:t>9.8%</a:t>
            </a:r>
            <a:endParaRPr lang="en-US" sz="15000" dirty="0"/>
          </a:p>
        </p:txBody>
      </p:sp>
      <p:sp>
        <p:nvSpPr>
          <p:cNvPr id="4" name="Text 2"/>
          <p:cNvSpPr txBox="1"/>
          <p:nvPr/>
        </p:nvSpPr>
        <p:spPr>
          <a:xfrm>
            <a:off x="6400800" y="2514600"/>
            <a:ext cx="5074920" cy="1737360"/>
          </a:xfrm>
          <a:prstGeom prst="rect">
            <a:avLst/>
          </a:prstGeom>
          <a:noFill/>
          <a:ln/>
        </p:spPr>
        <p:txBody>
          <a:bodyPr wrap="square" lIns="0" tIns="0" rIns="0" bIns="0" rtlCol="0" anchor="t"/>
          <a:lstStyle/>
          <a:p>
            <a:pPr indent="0" marL="0">
              <a:buNone/>
            </a:pPr>
            <a:r>
              <a:rPr lang="en-US" sz="2400" dirty="0">
                <a:solidFill>
                  <a:schemeClr val="bg1"/>
                </a:solidFill>
              </a:rPr>
              <a:t>of 205 cardiac-arrest patients at one Indian hospital got CPR from a bystander.</a:t>
            </a:r>
            <a:endParaRPr lang="en-US" sz="2400" dirty="0"/>
          </a:p>
          <a:p>
            <a:pPr indent="0" marL="0">
              <a:buNone/>
            </a:pPr>
            <a:r>
              <a:rPr lang="en-US" sz="1000" dirty="0">
                <a:solidFill>
                  <a:schemeClr val="bg1"/>
                </a:solidFill>
              </a:rPr>
              <a:t> </a:t>
            </a:r>
            <a:endParaRPr lang="en-US" sz="2400" dirty="0"/>
          </a:p>
          <a:p>
            <a:pPr indent="0" marL="0">
              <a:buNone/>
            </a:pPr>
            <a:r>
              <a:rPr lang="en-US" sz="2400" b="1" dirty="0">
                <a:solidFill>
                  <a:schemeClr val="bg1"/>
                </a:solidFill>
                <a:latin typeface="Consolas" pitchFamily="34" charset="0"/>
                <a:ea typeface="Consolas" pitchFamily="34" charset="-122"/>
                <a:cs typeface="Consolas" pitchFamily="34" charset="-120"/>
              </a:rPr>
              <a:t>1.4% </a:t>
            </a:r>
            <a:pPr indent="0" marL="0">
              <a:buNone/>
            </a:pPr>
            <a:r>
              <a:rPr lang="en-US" sz="2400" dirty="0">
                <a:solidFill>
                  <a:schemeClr val="bg1"/>
                </a:solidFill>
              </a:rPr>
              <a:t>left hospital alive.</a:t>
            </a:r>
            <a:endParaRPr lang="en-US" sz="2400" dirty="0"/>
          </a:p>
        </p:txBody>
      </p:sp>
      <p:pic>
        <p:nvPicPr>
          <p:cNvPr id="5" name="Image 0" descr="A flat line: nobody is pushing">    </p:cNvPr>
          <p:cNvPicPr>
            <a:picLocks noChangeAspect="1"/>
          </p:cNvPicPr>
          <p:nvPr/>
        </p:nvPicPr>
        <p:blipFill>
          <a:blip r:embed="rId1"/>
          <a:stretch>
            <a:fillRect/>
          </a:stretch>
        </p:blipFill>
        <p:spPr>
          <a:xfrm>
            <a:off x="685800" y="4983480"/>
            <a:ext cx="10820095" cy="365760"/>
          </a:xfrm>
          <a:prstGeom prst="rect">
            <a:avLst/>
          </a:prstGeom>
        </p:spPr>
      </p:pic>
      <p:sp>
        <p:nvSpPr>
          <p:cNvPr id="6" name="Text 3"/>
          <p:cNvSpPr txBox="1"/>
          <p:nvPr/>
        </p:nvSpPr>
        <p:spPr>
          <a:xfrm>
            <a:off x="10332720" y="4590288"/>
            <a:ext cx="1170432" cy="320040"/>
          </a:xfrm>
          <a:prstGeom prst="rect">
            <a:avLst/>
          </a:prstGeom>
          <a:noFill/>
          <a:ln/>
        </p:spPr>
        <p:txBody>
          <a:bodyPr wrap="square" lIns="0" tIns="0" rIns="0" bIns="0" rtlCol="0" anchor="t"/>
          <a:lstStyle/>
          <a:p>
            <a:pPr algn="r" indent="0" marL="0">
              <a:buNone/>
            </a:pPr>
            <a:r>
              <a:rPr lang="en-US" sz="1600" b="1" dirty="0">
                <a:solidFill>
                  <a:schemeClr val="bg2"/>
                </a:solidFill>
                <a:latin typeface="Consolas" pitchFamily="34" charset="0"/>
                <a:ea typeface="Consolas" pitchFamily="34" charset="-122"/>
                <a:cs typeface="Consolas" pitchFamily="34" charset="-120"/>
              </a:rPr>
              <a:t>0 /min</a:t>
            </a:r>
            <a:endParaRPr lang="en-US" sz="1600" dirty="0"/>
          </a:p>
        </p:txBody>
      </p:sp>
      <p:sp>
        <p:nvSpPr>
          <p:cNvPr id="7" name="Text 4"/>
          <p:cNvSpPr txBox="1"/>
          <p:nvPr/>
        </p:nvSpPr>
        <p:spPr>
          <a:xfrm>
            <a:off x="685800" y="6327648"/>
            <a:ext cx="9692640" cy="274320"/>
          </a:xfrm>
          <a:prstGeom prst="rect">
            <a:avLst/>
          </a:prstGeom>
          <a:noFill/>
          <a:ln/>
        </p:spPr>
        <p:txBody>
          <a:bodyPr wrap="square" lIns="0" tIns="0" rIns="0" bIns="0" rtlCol="0" anchor="t"/>
          <a:lstStyle/>
          <a:p>
            <a:pPr indent="0" marL="0">
              <a:buNone/>
            </a:pPr>
            <a:r>
              <a:rPr lang="en-US" sz="1200" dirty="0">
                <a:solidFill>
                  <a:schemeClr val="bg2"/>
                </a:solidFill>
              </a:rPr>
              <a:t>Bhat et al., Indian Heart Journal, 2021 · one tertiary hospital, 205 patients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Under 2 in 100 people say they know CPR, and the skill fades in months</a:t>
            </a:r>
            <a:endParaRPr lang="en-US" sz="4000" dirty="0"/>
          </a:p>
        </p:txBody>
      </p:sp>
      <p:sp>
        <p:nvSpPr>
          <p:cNvPr id="3" name="Text 1"/>
          <p:cNvSpPr txBox="1"/>
          <p:nvPr/>
        </p:nvSpPr>
        <p:spPr>
          <a:xfrm>
            <a:off x="640080" y="2240280"/>
            <a:ext cx="4937760" cy="1737360"/>
          </a:xfrm>
          <a:prstGeom prst="rect">
            <a:avLst/>
          </a:prstGeom>
          <a:noFill/>
          <a:ln/>
        </p:spPr>
        <p:txBody>
          <a:bodyPr wrap="square" lIns="0" tIns="0" rIns="0" bIns="0" rtlCol="0" anchor="t"/>
          <a:lstStyle/>
          <a:p>
            <a:pPr indent="0" marL="0">
              <a:buNone/>
            </a:pPr>
            <a:r>
              <a:rPr lang="en-US" sz="12000" b="1" dirty="0">
                <a:solidFill>
                  <a:schemeClr val="accent3"/>
                </a:solidFill>
                <a:latin typeface="Consolas" pitchFamily="34" charset="0"/>
                <a:ea typeface="Consolas" pitchFamily="34" charset="-122"/>
                <a:cs typeface="Consolas" pitchFamily="34" charset="-120"/>
              </a:rPr>
              <a:t>&lt;2%</a:t>
            </a:r>
            <a:endParaRPr lang="en-US" sz="12000" dirty="0"/>
          </a:p>
        </p:txBody>
      </p:sp>
      <p:sp>
        <p:nvSpPr>
          <p:cNvPr id="4" name="Text 2"/>
          <p:cNvSpPr txBox="1"/>
          <p:nvPr/>
        </p:nvSpPr>
        <p:spPr>
          <a:xfrm>
            <a:off x="685800" y="4069080"/>
            <a:ext cx="4754880" cy="1005840"/>
          </a:xfrm>
          <a:prstGeom prst="rect">
            <a:avLst/>
          </a:prstGeom>
          <a:noFill/>
          <a:ln/>
        </p:spPr>
        <p:txBody>
          <a:bodyPr wrap="square" lIns="0" tIns="0" rIns="0" bIns="0" rtlCol="0" anchor="t"/>
          <a:lstStyle/>
          <a:p>
            <a:pPr indent="0" marL="0">
              <a:buNone/>
            </a:pPr>
            <a:r>
              <a:rPr lang="en-US" sz="2200" dirty="0">
                <a:solidFill>
                  <a:schemeClr val="bg1"/>
                </a:solidFill>
              </a:rPr>
              <a:t>of about 1 lakh people surveyed in 20 Indian cities said they knew CPR</a:t>
            </a:r>
            <a:endParaRPr lang="en-US" sz="2200" dirty="0"/>
          </a:p>
        </p:txBody>
      </p:sp>
      <p:sp>
        <p:nvSpPr>
          <p:cNvPr id="5" name="Shape 3"/>
          <p:cNvSpPr/>
          <p:nvPr/>
        </p:nvSpPr>
        <p:spPr>
          <a:xfrm>
            <a:off x="6099048" y="2377440"/>
            <a:ext cx="0" cy="2743200"/>
          </a:xfrm>
          <a:prstGeom prst="line">
            <a:avLst/>
          </a:prstGeom>
          <a:noFill/>
          <a:ln w="12700">
            <a:solidFill>
              <a:schemeClr val="accent4"/>
            </a:solidFill>
            <a:prstDash val="solid"/>
          </a:ln>
        </p:spPr>
      </p:sp>
      <p:sp>
        <p:nvSpPr>
          <p:cNvPr id="6" name="Text 4"/>
          <p:cNvSpPr txBox="1"/>
          <p:nvPr/>
        </p:nvSpPr>
        <p:spPr>
          <a:xfrm>
            <a:off x="6583680" y="2240280"/>
            <a:ext cx="4937760" cy="1737360"/>
          </a:xfrm>
          <a:prstGeom prst="rect">
            <a:avLst/>
          </a:prstGeom>
          <a:noFill/>
          <a:ln/>
        </p:spPr>
        <p:txBody>
          <a:bodyPr wrap="square" lIns="0" tIns="0" rIns="0" bIns="0" rtlCol="0" anchor="t"/>
          <a:lstStyle/>
          <a:p>
            <a:pPr indent="0" marL="0">
              <a:buNone/>
            </a:pPr>
            <a:r>
              <a:rPr lang="en-US" sz="12000" b="1" dirty="0">
                <a:solidFill>
                  <a:schemeClr val="accent3"/>
                </a:solidFill>
                <a:latin typeface="Consolas" pitchFamily="34" charset="0"/>
                <a:ea typeface="Consolas" pitchFamily="34" charset="-122"/>
                <a:cs typeface="Consolas" pitchFamily="34" charset="-120"/>
              </a:rPr>
              <a:t>3</a:t>
            </a:r>
            <a:pPr indent="0" marL="0">
              <a:buNone/>
            </a:pPr>
            <a:r>
              <a:rPr lang="en-US" sz="4000" b="1" dirty="0">
                <a:solidFill>
                  <a:schemeClr val="accent3"/>
                </a:solidFill>
                <a:latin typeface="Consolas" pitchFamily="34" charset="0"/>
                <a:ea typeface="Consolas" pitchFamily="34" charset="-122"/>
                <a:cs typeface="Consolas" pitchFamily="34" charset="-120"/>
              </a:rPr>
              <a:t> months</a:t>
            </a:r>
            <a:endParaRPr lang="en-US" sz="2000" dirty="0"/>
          </a:p>
        </p:txBody>
      </p:sp>
      <p:sp>
        <p:nvSpPr>
          <p:cNvPr id="7" name="Text 5"/>
          <p:cNvSpPr txBox="1"/>
          <p:nvPr/>
        </p:nvSpPr>
        <p:spPr>
          <a:xfrm>
            <a:off x="6629400" y="4069080"/>
            <a:ext cx="4754880" cy="1005840"/>
          </a:xfrm>
          <a:prstGeom prst="rect">
            <a:avLst/>
          </a:prstGeom>
          <a:noFill/>
          <a:ln/>
        </p:spPr>
        <p:txBody>
          <a:bodyPr wrap="square" lIns="0" tIns="0" rIns="0" bIns="0" rtlCol="0" anchor="t"/>
          <a:lstStyle/>
          <a:p>
            <a:pPr indent="0" marL="0">
              <a:buNone/>
            </a:pPr>
            <a:r>
              <a:rPr lang="en-US" sz="2200" dirty="0">
                <a:solidFill>
                  <a:schemeClr val="bg1"/>
                </a:solidFill>
              </a:rPr>
              <a:t>is how soon CPR skills can start to fade after a course</a:t>
            </a:r>
            <a:endParaRPr lang="en-US" sz="2200" dirty="0"/>
          </a:p>
        </p:txBody>
      </p:sp>
      <p:sp>
        <p:nvSpPr>
          <p:cNvPr id="8" name="Text 6"/>
          <p:cNvSpPr txBox="1"/>
          <p:nvPr/>
        </p:nvSpPr>
        <p:spPr>
          <a:xfrm>
            <a:off x="685800" y="6327648"/>
            <a:ext cx="9692640" cy="274320"/>
          </a:xfrm>
          <a:prstGeom prst="rect">
            <a:avLst/>
          </a:prstGeom>
          <a:noFill/>
          <a:ln/>
        </p:spPr>
        <p:txBody>
          <a:bodyPr wrap="square" lIns="0" tIns="0" rIns="0" bIns="0" rtlCol="0" anchor="t"/>
          <a:lstStyle/>
          <a:p>
            <a:pPr indent="0" marL="0">
              <a:buNone/>
            </a:pPr>
            <a:r>
              <a:rPr lang="en-US" sz="1200" dirty="0">
                <a:solidFill>
                  <a:schemeClr val="bg2"/>
                </a:solidFill>
              </a:rPr>
              <a:t>Lybrate survey, 2016 · AHA 2025 Guidelines, Part 12: Resuscitation Education Science</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Feedback makes practice stick, but today it needs a sensor manikin</a:t>
            </a:r>
            <a:endParaRPr lang="en-US" sz="4000" dirty="0"/>
          </a:p>
        </p:txBody>
      </p:sp>
      <p:sp>
        <p:nvSpPr>
          <p:cNvPr id="3" name="Text 1"/>
          <p:cNvSpPr txBox="1"/>
          <p:nvPr/>
        </p:nvSpPr>
        <p:spPr>
          <a:xfrm>
            <a:off x="685800" y="2011680"/>
            <a:ext cx="10820095" cy="411480"/>
          </a:xfrm>
          <a:prstGeom prst="rect">
            <a:avLst/>
          </a:prstGeom>
          <a:noFill/>
          <a:ln/>
        </p:spPr>
        <p:txBody>
          <a:bodyPr wrap="square" lIns="0" tIns="0" rIns="0" bIns="0" rtlCol="0" anchor="t"/>
          <a:lstStyle/>
          <a:p>
            <a:pPr indent="0" marL="0">
              <a:buNone/>
            </a:pPr>
            <a:r>
              <a:rPr lang="en-US" sz="2000" dirty="0">
                <a:solidFill>
                  <a:schemeClr val="bg2"/>
                </a:solidFill>
              </a:rPr>
              <a:t>AHA 2025 recommends feedback devices in CPR training, including for lay rescuers (Class 1).</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2743200"/>
          <a:ext cx="10820095" cy="914400"/>
        </p:xfrm>
        <a:graphic>
          <a:graphicData uri="http://schemas.openxmlformats.org/drawingml/2006/table">
            <a:tbl>
              <a:tblPr/>
              <a:tblGrid>
                <a:gridCol w="2743200"/>
                <a:gridCol w="2788920"/>
                <a:gridCol w="2788920"/>
                <a:gridCol w="2496312"/>
              </a:tblGrid>
              <a:tr h="502920">
                <a:tc>
                  <a:txBody>
                    <a:bodyPr/>
                    <a:lstStyle/>
                    <a:p>
                      <a:pPr indent="0" marL="0">
                        <a:buNone/>
                      </a:pP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Sees your technique</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Corrects you live</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1400" b="1" dirty="0">
                          <a:solidFill>
                            <a:srgbClr val="93A3B5"/>
                          </a:solidFill>
                          <a:latin typeface="Consolas" pitchFamily="34" charset="0"/>
                          <a:ea typeface="Consolas" pitchFamily="34" charset="-122"/>
                          <a:cs typeface="Consolas" pitchFamily="34" charset="-120"/>
                        </a:rPr>
                        <a:t>What you need</a:t>
                      </a:r>
                      <a:endParaRPr lang="en-US" sz="1400" dirty="0">
                        <a:latin typeface="Consolas" charset="0"/>
                        <a:ea typeface="Consolas" charset="0"/>
                        <a:cs typeface="Consolas" charset="0"/>
                      </a:endParaRPr>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Video tutorial</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screen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Metronome app</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No</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Beat only</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phone</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658368">
                <a:tc>
                  <a:txBody>
                    <a:bodyPr/>
                    <a:lstStyle/>
                    <a:p>
                      <a:pPr indent="0" marL="0">
                        <a:buNone/>
                      </a:pPr>
                      <a:r>
                        <a:rPr lang="en-US" sz="2000" b="1" dirty="0">
                          <a:solidFill>
                            <a:srgbClr val="EEF2F5"/>
                          </a:solidFill>
                        </a:rPr>
                        <a:t>Feedback manikin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Yes</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Yes</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c>
                  <a:txBody>
                    <a:bodyPr/>
                    <a:lstStyle/>
                    <a:p>
                      <a:pPr indent="0" marL="0">
                        <a:buNone/>
                      </a:pPr>
                      <a:r>
                        <a:rPr lang="en-US" sz="2000" dirty="0">
                          <a:solidFill>
                            <a:srgbClr val="93A3B5"/>
                          </a:solidFill>
                        </a:rPr>
                        <a:t>A sensor manikin</a:t>
                      </a:r>
                      <a:endParaRPr lang="en-US" sz="2000" dirty="0"/>
                    </a:p>
                  </a:txBody>
                  <a:tcPr marL="0" marR="91440" marT="45720" marB="45720" anchor="ctr">
                    <a:lnL w="0" cap="flat" cmpd="sng" algn="ctr">
                      <a:noFill/>
                    </a:lnL>
                    <a:lnR w="0" cap="flat" cmpd="sng" algn="ctr">
                      <a:noFill/>
                    </a:lnR>
                    <a:lnT w="0" cap="flat" cmpd="sng" algn="ctr">
                      <a:noFill/>
                    </a:lnT>
                    <a:lnB w="12700" cap="flat" cmpd="sng" algn="ctr">
                      <a:solidFill>
                        <a:srgbClr val="2A3642"/>
                      </a:solidFill>
                      <a:prstDash val="solid"/>
                      <a:round/>
                      <a:headEnd type="none" w="med" len="med"/>
                      <a:tailEnd type="none" w="med" len="med"/>
                    </a:lnB>
                    <a:solidFill>
                      <a:srgbClr val="0E1418"/>
                    </a:solidFill>
                  </a:tcPr>
                </a:tc>
              </a:tr>
              <a:tr h="731520">
                <a:tc>
                  <a:txBody>
                    <a:bodyPr/>
                    <a:lstStyle/>
                    <a:p>
                      <a:pPr indent="0" marL="0">
                        <a:buNone/>
                      </a:pPr>
                      <a:r>
                        <a:rPr lang="en-US" sz="2000" b="1" dirty="0">
                          <a:solidFill>
                            <a:srgbClr val="2DD4BF"/>
                          </a:solidFill>
                        </a:rPr>
                        <a:t>CPR Coach</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Rate, elbows, pauses</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Spoken, 10 languages</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c>
                  <a:txBody>
                    <a:bodyPr/>
                    <a:lstStyle/>
                    <a:p>
                      <a:pPr indent="0" marL="0">
                        <a:buNone/>
                      </a:pPr>
                      <a:r>
                        <a:rPr lang="en-US" sz="2000" b="1" dirty="0">
                          <a:solidFill>
                            <a:srgbClr val="EEF2F5"/>
                          </a:solidFill>
                        </a:rPr>
                        <a:t>A phone</a:t>
                      </a:r>
                      <a:endParaRPr lang="en-US" sz="2000" dirty="0"/>
                    </a:p>
                  </a:txBody>
                  <a:tcPr marL="0" marR="91440" marT="45720" marB="45720" anchor="ctr">
                    <a:lnL w="0" cap="flat" cmpd="sng" algn="ctr">
                      <a:noFill/>
                    </a:lnL>
                    <a:lnR w="0" cap="flat" cmpd="sng" algn="ctr">
                      <a:noFill/>
                    </a:lnR>
                    <a:lnT w="0" cap="flat" cmpd="sng" algn="ctr">
                      <a:noFill/>
                    </a:lnT>
                    <a:lnB w="0" cap="flat" cmpd="sng" algn="ctr">
                      <a:noFill/>
                    </a:lnB>
                    <a:solidFill>
                      <a:srgbClr val="0E1418"/>
                    </a:solidFill>
                  </a:tcPr>
                </a:tc>
              </a:tr>
            </a:tbl>
          </a:graphicData>
        </a:graphic>
      </p:graphicFrame>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watches your arms and says what to fix</a:t>
            </a:r>
            <a:endParaRPr lang="en-US" sz="4000" dirty="0"/>
          </a:p>
        </p:txBody>
      </p:sp>
      <p:pic>
        <p:nvPicPr>
          <p:cNvPr id="3" name="Image 0" descr="Illustration of the app: side view of a rescuer's arm joints, a rate of 96 per minute and the spoken prompt Push faster">    </p:cNvPr>
          <p:cNvPicPr>
            <a:picLocks noChangeAspect="1"/>
          </p:cNvPicPr>
          <p:nvPr/>
        </p:nvPicPr>
        <p:blipFill>
          <a:blip r:embed="rId1"/>
          <a:stretch>
            <a:fillRect/>
          </a:stretch>
        </p:blipFill>
        <p:spPr>
          <a:xfrm>
            <a:off x="594360" y="1828800"/>
            <a:ext cx="7223760" cy="4023360"/>
          </a:xfrm>
          <a:prstGeom prst="rect">
            <a:avLst/>
          </a:prstGeom>
        </p:spPr>
      </p:pic>
      <p:sp>
        <p:nvSpPr>
          <p:cNvPr id="4" name="Text 1"/>
          <p:cNvSpPr txBox="1"/>
          <p:nvPr/>
        </p:nvSpPr>
        <p:spPr>
          <a:xfrm>
            <a:off x="685800" y="5943600"/>
            <a:ext cx="6858000" cy="274320"/>
          </a:xfrm>
          <a:prstGeom prst="rect">
            <a:avLst/>
          </a:prstGeom>
          <a:noFill/>
          <a:ln/>
        </p:spPr>
        <p:txBody>
          <a:bodyPr wrap="square" lIns="0" tIns="0" rIns="0" bIns="0" rtlCol="0" anchor="t"/>
          <a:lstStyle/>
          <a:p>
            <a:pPr indent="0" marL="0">
              <a:buNone/>
            </a:pPr>
            <a:r>
              <a:rPr lang="en-US" sz="1200" i="1" dirty="0">
                <a:solidFill>
                  <a:schemeClr val="bg2"/>
                </a:solidFill>
              </a:rPr>
              <a:t>Illustration · values are examples, not measurements</a:t>
            </a:r>
            <a:endParaRPr lang="en-US" sz="1200" dirty="0"/>
          </a:p>
        </p:txBody>
      </p:sp>
      <p:sp>
        <p:nvSpPr>
          <p:cNvPr id="5" name="Text 2"/>
          <p:cNvSpPr txBox="1"/>
          <p:nvPr/>
        </p:nvSpPr>
        <p:spPr>
          <a:xfrm>
            <a:off x="8183880" y="203911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01</a:t>
            </a:r>
            <a:endParaRPr lang="en-US" sz="1600" dirty="0"/>
          </a:p>
        </p:txBody>
      </p:sp>
      <p:sp>
        <p:nvSpPr>
          <p:cNvPr id="6" name="Text 3"/>
          <p:cNvSpPr txBox="1"/>
          <p:nvPr/>
        </p:nvSpPr>
        <p:spPr>
          <a:xfrm>
            <a:off x="8778240" y="196596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Watch</a:t>
            </a:r>
            <a:endParaRPr lang="en-US" sz="2800" dirty="0"/>
          </a:p>
        </p:txBody>
      </p:sp>
      <p:sp>
        <p:nvSpPr>
          <p:cNvPr id="7" name="Text 4"/>
          <p:cNvSpPr txBox="1"/>
          <p:nvPr/>
        </p:nvSpPr>
        <p:spPr>
          <a:xfrm>
            <a:off x="8778240" y="2468880"/>
            <a:ext cx="2743200" cy="685800"/>
          </a:xfrm>
          <a:prstGeom prst="rect">
            <a:avLst/>
          </a:prstGeom>
          <a:noFill/>
          <a:ln/>
        </p:spPr>
        <p:txBody>
          <a:bodyPr wrap="square" lIns="0" tIns="0" rIns="0" bIns="0" rtlCol="0" anchor="t"/>
          <a:lstStyle/>
          <a:p>
            <a:pPr indent="0" marL="0">
              <a:buNone/>
            </a:pPr>
            <a:r>
              <a:rPr lang="en-US" sz="1800" dirty="0">
                <a:solidFill>
                  <a:schemeClr val="bg2"/>
                </a:solidFill>
              </a:rPr>
              <a:t>the camera sees shoulder, elbow and wrist</a:t>
            </a:r>
            <a:endParaRPr lang="en-US" sz="1800" dirty="0"/>
          </a:p>
        </p:txBody>
      </p:sp>
      <p:sp>
        <p:nvSpPr>
          <p:cNvPr id="8" name="Text 5"/>
          <p:cNvSpPr txBox="1"/>
          <p:nvPr/>
        </p:nvSpPr>
        <p:spPr>
          <a:xfrm>
            <a:off x="8183880" y="336499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02</a:t>
            </a:r>
            <a:endParaRPr lang="en-US" sz="1600" dirty="0"/>
          </a:p>
        </p:txBody>
      </p:sp>
      <p:sp>
        <p:nvSpPr>
          <p:cNvPr id="9" name="Text 6"/>
          <p:cNvSpPr txBox="1"/>
          <p:nvPr/>
        </p:nvSpPr>
        <p:spPr>
          <a:xfrm>
            <a:off x="8778240" y="329184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Count</a:t>
            </a:r>
            <a:endParaRPr lang="en-US" sz="2800" dirty="0"/>
          </a:p>
        </p:txBody>
      </p:sp>
      <p:sp>
        <p:nvSpPr>
          <p:cNvPr id="10" name="Text 7"/>
          <p:cNvSpPr txBox="1"/>
          <p:nvPr/>
        </p:nvSpPr>
        <p:spPr>
          <a:xfrm>
            <a:off x="8778240" y="3794760"/>
            <a:ext cx="2743200" cy="685800"/>
          </a:xfrm>
          <a:prstGeom prst="rect">
            <a:avLst/>
          </a:prstGeom>
          <a:noFill/>
          <a:ln/>
        </p:spPr>
        <p:txBody>
          <a:bodyPr wrap="square" lIns="0" tIns="0" rIns="0" bIns="0" rtlCol="0" anchor="t"/>
          <a:lstStyle/>
          <a:p>
            <a:pPr indent="0" marL="0">
              <a:buNone/>
            </a:pPr>
            <a:r>
              <a:rPr lang="en-US" sz="1800" dirty="0">
                <a:solidFill>
                  <a:schemeClr val="bg2"/>
                </a:solidFill>
              </a:rPr>
              <a:t>rate, elbow bend and pauses</a:t>
            </a:r>
            <a:endParaRPr lang="en-US" sz="1800" dirty="0"/>
          </a:p>
        </p:txBody>
      </p:sp>
      <p:sp>
        <p:nvSpPr>
          <p:cNvPr id="11" name="Text 8"/>
          <p:cNvSpPr txBox="1"/>
          <p:nvPr/>
        </p:nvSpPr>
        <p:spPr>
          <a:xfrm>
            <a:off x="8183880" y="4690872"/>
            <a:ext cx="548640" cy="32004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03</a:t>
            </a:r>
            <a:endParaRPr lang="en-US" sz="1600" dirty="0"/>
          </a:p>
        </p:txBody>
      </p:sp>
      <p:sp>
        <p:nvSpPr>
          <p:cNvPr id="12" name="Text 9"/>
          <p:cNvSpPr txBox="1"/>
          <p:nvPr/>
        </p:nvSpPr>
        <p:spPr>
          <a:xfrm>
            <a:off x="8778240" y="4617720"/>
            <a:ext cx="274320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Speak</a:t>
            </a:r>
            <a:endParaRPr lang="en-US" sz="2800" dirty="0"/>
          </a:p>
        </p:txBody>
      </p:sp>
      <p:sp>
        <p:nvSpPr>
          <p:cNvPr id="13" name="Text 10"/>
          <p:cNvSpPr txBox="1"/>
          <p:nvPr/>
        </p:nvSpPr>
        <p:spPr>
          <a:xfrm>
            <a:off x="8778240" y="5120640"/>
            <a:ext cx="2743200" cy="685800"/>
          </a:xfrm>
          <a:prstGeom prst="rect">
            <a:avLst/>
          </a:prstGeom>
          <a:noFill/>
          <a:ln/>
        </p:spPr>
        <p:txBody>
          <a:bodyPr wrap="square" lIns="0" tIns="0" rIns="0" bIns="0" rtlCol="0" anchor="t"/>
          <a:lstStyle/>
          <a:p>
            <a:pPr indent="0" marL="0">
              <a:buNone/>
            </a:pPr>
            <a:r>
              <a:rPr lang="en-US" sz="1800" dirty="0">
                <a:solidFill>
                  <a:schemeClr val="bg2"/>
                </a:solidFill>
              </a:rPr>
              <a:t>one correction, in your language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Camera to voice, every step runs on the phone</a:t>
            </a:r>
            <a:endParaRPr lang="en-US" sz="4000" dirty="0"/>
          </a:p>
        </p:txBody>
      </p:sp>
      <p:pic>
        <p:nvPicPr>
          <p:cNvPr id="3" name="Image 0" descr="assets2/pipeline.png">    </p:cNvPr>
          <p:cNvPicPr>
            <a:picLocks noChangeAspect="1"/>
          </p:cNvPicPr>
          <p:nvPr/>
        </p:nvPicPr>
        <p:blipFill>
          <a:blip r:embed="rId1"/>
          <a:stretch>
            <a:fillRect/>
          </a:stretch>
        </p:blipFill>
        <p:spPr>
          <a:xfrm>
            <a:off x="685800" y="3154680"/>
            <a:ext cx="10820095" cy="731520"/>
          </a:xfrm>
          <a:prstGeom prst="rect">
            <a:avLst/>
          </a:prstGeom>
        </p:spPr>
      </p:pic>
      <p:sp>
        <p:nvSpPr>
          <p:cNvPr id="4" name="Shape 1"/>
          <p:cNvSpPr/>
          <p:nvPr/>
        </p:nvSpPr>
        <p:spPr>
          <a:xfrm>
            <a:off x="704088" y="3410712"/>
            <a:ext cx="219456" cy="219456"/>
          </a:xfrm>
          <a:prstGeom prst="ellipse">
            <a:avLst/>
          </a:prstGeom>
          <a:solidFill>
            <a:schemeClr val="accent1"/>
          </a:solidFill>
          <a:ln w="12700">
            <a:solidFill>
              <a:schemeClr val="accent1"/>
            </a:solidFill>
            <a:prstDash val="solid"/>
          </a:ln>
        </p:spPr>
      </p:sp>
      <p:sp>
        <p:nvSpPr>
          <p:cNvPr id="5" name="Text 2"/>
          <p:cNvSpPr txBox="1"/>
          <p:nvPr/>
        </p:nvSpPr>
        <p:spPr>
          <a:xfrm>
            <a:off x="685800"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Camera</a:t>
            </a:r>
            <a:endParaRPr lang="en-US" sz="2800" dirty="0"/>
          </a:p>
        </p:txBody>
      </p:sp>
      <p:sp>
        <p:nvSpPr>
          <p:cNvPr id="6" name="Text 3"/>
          <p:cNvSpPr txBox="1"/>
          <p:nvPr/>
        </p:nvSpPr>
        <p:spPr>
          <a:xfrm>
            <a:off x="685800"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phone held side-on</a:t>
            </a:r>
            <a:endParaRPr lang="en-US" sz="1800" dirty="0"/>
          </a:p>
        </p:txBody>
      </p:sp>
      <p:sp>
        <p:nvSpPr>
          <p:cNvPr id="7" name="Shape 4"/>
          <p:cNvSpPr/>
          <p:nvPr/>
        </p:nvSpPr>
        <p:spPr>
          <a:xfrm>
            <a:off x="2868107" y="3410712"/>
            <a:ext cx="219456" cy="219456"/>
          </a:xfrm>
          <a:prstGeom prst="ellipse">
            <a:avLst/>
          </a:prstGeom>
          <a:solidFill>
            <a:schemeClr val="accent1"/>
          </a:solidFill>
          <a:ln w="12700">
            <a:solidFill>
              <a:schemeClr val="accent1"/>
            </a:solidFill>
            <a:prstDash val="solid"/>
          </a:ln>
        </p:spPr>
      </p:sp>
      <p:sp>
        <p:nvSpPr>
          <p:cNvPr id="8" name="Text 5"/>
          <p:cNvSpPr txBox="1"/>
          <p:nvPr/>
        </p:nvSpPr>
        <p:spPr>
          <a:xfrm>
            <a:off x="2849819"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Pose</a:t>
            </a:r>
            <a:endParaRPr lang="en-US" sz="2800" dirty="0"/>
          </a:p>
        </p:txBody>
      </p:sp>
      <p:sp>
        <p:nvSpPr>
          <p:cNvPr id="9" name="Text 6"/>
          <p:cNvSpPr txBox="1"/>
          <p:nvPr/>
        </p:nvSpPr>
        <p:spPr>
          <a:xfrm>
            <a:off x="2849819"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MediaPipe finds the joints</a:t>
            </a:r>
            <a:endParaRPr lang="en-US" sz="1800" dirty="0"/>
          </a:p>
        </p:txBody>
      </p:sp>
      <p:sp>
        <p:nvSpPr>
          <p:cNvPr id="10" name="Shape 7"/>
          <p:cNvSpPr/>
          <p:nvPr/>
        </p:nvSpPr>
        <p:spPr>
          <a:xfrm>
            <a:off x="5032126" y="3410712"/>
            <a:ext cx="219456" cy="219456"/>
          </a:xfrm>
          <a:prstGeom prst="ellipse">
            <a:avLst/>
          </a:prstGeom>
          <a:solidFill>
            <a:schemeClr val="accent1"/>
          </a:solidFill>
          <a:ln w="12700">
            <a:solidFill>
              <a:schemeClr val="accent1"/>
            </a:solidFill>
            <a:prstDash val="solid"/>
          </a:ln>
        </p:spPr>
      </p:sp>
      <p:sp>
        <p:nvSpPr>
          <p:cNvPr id="11" name="Text 8"/>
          <p:cNvSpPr txBox="1"/>
          <p:nvPr/>
        </p:nvSpPr>
        <p:spPr>
          <a:xfrm>
            <a:off x="5013838"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Rhythm</a:t>
            </a:r>
            <a:endParaRPr lang="en-US" sz="2800" dirty="0"/>
          </a:p>
        </p:txBody>
      </p:sp>
      <p:sp>
        <p:nvSpPr>
          <p:cNvPr id="12" name="Text 9"/>
          <p:cNvSpPr txBox="1"/>
          <p:nvPr/>
        </p:nvSpPr>
        <p:spPr>
          <a:xfrm>
            <a:off x="5013838"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rate, elbow angle, pauses</a:t>
            </a:r>
            <a:endParaRPr lang="en-US" sz="1800" dirty="0"/>
          </a:p>
        </p:txBody>
      </p:sp>
      <p:sp>
        <p:nvSpPr>
          <p:cNvPr id="13" name="Shape 10"/>
          <p:cNvSpPr/>
          <p:nvPr/>
        </p:nvSpPr>
        <p:spPr>
          <a:xfrm>
            <a:off x="7196145" y="3410712"/>
            <a:ext cx="219456" cy="219456"/>
          </a:xfrm>
          <a:prstGeom prst="ellipse">
            <a:avLst/>
          </a:prstGeom>
          <a:solidFill>
            <a:schemeClr val="accent1"/>
          </a:solidFill>
          <a:ln w="12700">
            <a:solidFill>
              <a:schemeClr val="accent1"/>
            </a:solidFill>
            <a:prstDash val="solid"/>
          </a:ln>
        </p:spPr>
      </p:sp>
      <p:sp>
        <p:nvSpPr>
          <p:cNvPr id="14" name="Text 11"/>
          <p:cNvSpPr txBox="1"/>
          <p:nvPr/>
        </p:nvSpPr>
        <p:spPr>
          <a:xfrm>
            <a:off x="7177857"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Rules</a:t>
            </a:r>
            <a:endParaRPr lang="en-US" sz="2800" dirty="0"/>
          </a:p>
        </p:txBody>
      </p:sp>
      <p:sp>
        <p:nvSpPr>
          <p:cNvPr id="15" name="Text 12"/>
          <p:cNvSpPr txBox="1"/>
          <p:nvPr/>
        </p:nvSpPr>
        <p:spPr>
          <a:xfrm>
            <a:off x="7177857"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one correction at a time</a:t>
            </a:r>
            <a:endParaRPr lang="en-US" sz="1800" dirty="0"/>
          </a:p>
        </p:txBody>
      </p:sp>
      <p:sp>
        <p:nvSpPr>
          <p:cNvPr id="16" name="Shape 13"/>
          <p:cNvSpPr/>
          <p:nvPr/>
        </p:nvSpPr>
        <p:spPr>
          <a:xfrm>
            <a:off x="9360164" y="3410712"/>
            <a:ext cx="219456" cy="219456"/>
          </a:xfrm>
          <a:prstGeom prst="ellipse">
            <a:avLst/>
          </a:prstGeom>
          <a:solidFill>
            <a:schemeClr val="accent1"/>
          </a:solidFill>
          <a:ln w="12700">
            <a:solidFill>
              <a:schemeClr val="accent1"/>
            </a:solidFill>
            <a:prstDash val="solid"/>
          </a:ln>
        </p:spPr>
      </p:sp>
      <p:sp>
        <p:nvSpPr>
          <p:cNvPr id="17" name="Text 14"/>
          <p:cNvSpPr txBox="1"/>
          <p:nvPr/>
        </p:nvSpPr>
        <p:spPr>
          <a:xfrm>
            <a:off x="9341876" y="2514600"/>
            <a:ext cx="1981139" cy="50292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Voice</a:t>
            </a:r>
            <a:endParaRPr lang="en-US" sz="2800" dirty="0"/>
          </a:p>
        </p:txBody>
      </p:sp>
      <p:sp>
        <p:nvSpPr>
          <p:cNvPr id="18" name="Text 15"/>
          <p:cNvSpPr txBox="1"/>
          <p:nvPr/>
        </p:nvSpPr>
        <p:spPr>
          <a:xfrm>
            <a:off x="9341876" y="4069080"/>
            <a:ext cx="1843979" cy="731520"/>
          </a:xfrm>
          <a:prstGeom prst="rect">
            <a:avLst/>
          </a:prstGeom>
          <a:noFill/>
          <a:ln/>
        </p:spPr>
        <p:txBody>
          <a:bodyPr wrap="square" lIns="0" tIns="0" rIns="0" bIns="0" rtlCol="0" anchor="t"/>
          <a:lstStyle/>
          <a:p>
            <a:pPr indent="0" marL="0">
              <a:buNone/>
            </a:pPr>
            <a:r>
              <a:rPr lang="en-US" sz="1800" dirty="0">
                <a:solidFill>
                  <a:schemeClr val="bg2"/>
                </a:solidFill>
              </a:rPr>
              <a:t>recorded clips and a 110/min beat</a:t>
            </a:r>
            <a:endParaRPr lang="en-US" sz="1800" dirty="0"/>
          </a:p>
        </p:txBody>
      </p:sp>
      <p:sp>
        <p:nvSpPr>
          <p:cNvPr id="19" name="Text 16"/>
          <p:cNvSpPr txBox="1"/>
          <p:nvPr/>
        </p:nvSpPr>
        <p:spPr>
          <a:xfrm>
            <a:off x="685800" y="5257800"/>
            <a:ext cx="10820095" cy="411480"/>
          </a:xfrm>
          <a:prstGeom prst="rect">
            <a:avLst/>
          </a:prstGeom>
          <a:noFill/>
          <a:ln/>
        </p:spPr>
        <p:txBody>
          <a:bodyPr wrap="square" lIns="0" tIns="0" rIns="0" bIns="0" rtlCol="0" anchor="t"/>
          <a:lstStyle/>
          <a:p>
            <a:pPr indent="0" marL="0">
              <a:buNone/>
            </a:pPr>
            <a:r>
              <a:rPr lang="en-US" sz="2200" b="1" dirty="0">
                <a:solidFill>
                  <a:schemeClr val="accent1"/>
                </a:solidFill>
              </a:rPr>
              <a:t>No internet permission. Nothing is uploaded.</a:t>
            </a:r>
            <a:endParaRPr lang="en-US" sz="2200" dirty="0"/>
          </a:p>
        </p:txBody>
      </p:sp>
      <p:sp>
        <p:nvSpPr>
          <p:cNvPr id="20" name="Text 17"/>
          <p:cNvSpPr txBox="1"/>
          <p:nvPr/>
        </p:nvSpPr>
        <p:spPr>
          <a:xfrm>
            <a:off x="685800" y="5760720"/>
            <a:ext cx="10820095" cy="274320"/>
          </a:xfrm>
          <a:prstGeom prst="rect">
            <a:avLst/>
          </a:prstGeom>
          <a:noFill/>
          <a:ln/>
        </p:spPr>
        <p:txBody>
          <a:bodyPr wrap="square" lIns="0" tIns="0" rIns="0" bIns="0" rtlCol="0" anchor="t"/>
          <a:lstStyle/>
          <a:p>
            <a:pPr indent="0" marL="0">
              <a:buNone/>
            </a:pPr>
            <a:r>
              <a:rPr lang="en-US" sz="1200" dirty="0">
                <a:solidFill>
                  <a:schemeClr val="bg2"/>
                </a:solidFill>
                <a:latin typeface="Consolas" pitchFamily="34" charset="0"/>
                <a:ea typeface="Consolas" pitchFamily="34" charset="-122"/>
                <a:cs typeface="Consolas" pitchFamily="34" charset="-120"/>
              </a:rPr>
              <a:t>Kotlin · Jetpack Compose · CameraX · MediaPipe Pose · sherpa-onnx (Whisper, IndicConformer) · Silero VAD</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Practise teaches you; Emergency starts the beat in one tap</a:t>
            </a:r>
            <a:endParaRPr lang="en-US" sz="4000" dirty="0"/>
          </a:p>
        </p:txBody>
      </p:sp>
      <p:sp>
        <p:nvSpPr>
          <p:cNvPr id="3" name="Shape 1"/>
          <p:cNvSpPr/>
          <p:nvPr/>
        </p:nvSpPr>
        <p:spPr>
          <a:xfrm>
            <a:off x="6099048" y="2286000"/>
            <a:ext cx="0" cy="3657600"/>
          </a:xfrm>
          <a:prstGeom prst="line">
            <a:avLst/>
          </a:prstGeom>
          <a:noFill/>
          <a:ln w="12700">
            <a:solidFill>
              <a:schemeClr val="accent4"/>
            </a:solidFill>
            <a:prstDash val="solid"/>
          </a:ln>
        </p:spPr>
      </p:sp>
      <p:sp>
        <p:nvSpPr>
          <p:cNvPr id="4" name="Text 2"/>
          <p:cNvSpPr txBox="1"/>
          <p:nvPr/>
        </p:nvSpPr>
        <p:spPr>
          <a:xfrm>
            <a:off x="685800" y="2286000"/>
            <a:ext cx="45720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PRACTISE</a:t>
            </a:r>
            <a:endParaRPr lang="en-US" sz="1600" dirty="0"/>
          </a:p>
        </p:txBody>
      </p:sp>
      <p:sp>
        <p:nvSpPr>
          <p:cNvPr id="5" name="Text 3"/>
          <p:cNvSpPr txBox="1"/>
          <p:nvPr/>
        </p:nvSpPr>
        <p:spPr>
          <a:xfrm>
            <a:off x="685800" y="2651760"/>
            <a:ext cx="493776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Learn with feedback</a:t>
            </a:r>
            <a:endParaRPr lang="en-US" sz="3000" dirty="0"/>
          </a:p>
        </p:txBody>
      </p:sp>
      <p:sp>
        <p:nvSpPr>
          <p:cNvPr id="6" name="Text 4"/>
          <p:cNvSpPr txBox="1"/>
          <p:nvPr/>
        </p:nvSpPr>
        <p:spPr>
          <a:xfrm>
            <a:off x="685800" y="3429000"/>
            <a:ext cx="4754880" cy="1920240"/>
          </a:xfrm>
          <a:prstGeom prst="rect">
            <a:avLst/>
          </a:prstGeom>
          <a:noFill/>
          <a:ln/>
        </p:spPr>
        <p:txBody>
          <a:bodyPr wrap="square" lIns="0" tIns="0" rIns="0" bIns="0" rtlCol="0" anchor="t"/>
          <a:lstStyle/>
          <a:p>
            <a:pPr indent="0" marL="0">
              <a:spcAft>
                <a:spcPts val="1400"/>
              </a:spcAft>
              <a:buNone/>
            </a:pPr>
            <a:r>
              <a:rPr lang="en-US" sz="2100" dirty="0">
                <a:solidFill>
                  <a:schemeClr val="bg1"/>
                </a:solidFill>
              </a:rPr>
              <a:t>2-minute session, live readings</a:t>
            </a:r>
            <a:endParaRPr lang="en-US" sz="2100" dirty="0"/>
          </a:p>
          <a:p>
            <a:pPr indent="0" marL="0">
              <a:spcAft>
                <a:spcPts val="1400"/>
              </a:spcAft>
              <a:buNone/>
            </a:pPr>
            <a:r>
              <a:rPr lang="en-US" sz="2100" dirty="0">
                <a:solidFill>
                  <a:schemeClr val="bg1"/>
                </a:solidFill>
              </a:rPr>
              <a:t>One spoken correction at a time</a:t>
            </a:r>
            <a:endParaRPr lang="en-US" sz="2100" dirty="0"/>
          </a:p>
          <a:p>
            <a:pPr indent="0" marL="0">
              <a:spcAft>
                <a:spcPts val="1400"/>
              </a:spcAft>
              <a:buNone/>
            </a:pPr>
            <a:r>
              <a:rPr lang="en-US" sz="2100" dirty="0">
                <a:solidFill>
                  <a:schemeClr val="bg1"/>
                </a:solidFill>
              </a:rPr>
              <a:t>Scorecard shows how long rate was really measured</a:t>
            </a:r>
            <a:endParaRPr lang="en-US" sz="2100" dirty="0"/>
          </a:p>
        </p:txBody>
      </p:sp>
      <p:sp>
        <p:nvSpPr>
          <p:cNvPr id="7" name="Text 5"/>
          <p:cNvSpPr txBox="1"/>
          <p:nvPr/>
        </p:nvSpPr>
        <p:spPr>
          <a:xfrm>
            <a:off x="685800" y="5577840"/>
            <a:ext cx="4937760" cy="347472"/>
          </a:xfrm>
          <a:prstGeom prst="rect">
            <a:avLst/>
          </a:prstGeom>
          <a:noFill/>
          <a:ln/>
        </p:spPr>
        <p:txBody>
          <a:bodyPr wrap="square" lIns="0" tIns="0" rIns="0" bIns="0" rtlCol="0" anchor="t"/>
          <a:lstStyle/>
          <a:p>
            <a:pPr indent="0" marL="0">
              <a:buNone/>
            </a:pPr>
            <a:r>
              <a:rPr lang="en-US" sz="1600" dirty="0">
                <a:solidFill>
                  <a:schemeClr val="accent1"/>
                </a:solidFill>
                <a:latin typeface="Consolas" pitchFamily="34" charset="0"/>
                <a:ea typeface="Consolas" pitchFamily="34" charset="-122"/>
                <a:cs typeface="Consolas" pitchFamily="34" charset="-120"/>
              </a:rPr>
              <a:t>Ran on a phone: 7 real recordings</a:t>
            </a:r>
            <a:endParaRPr lang="en-US" sz="1600" dirty="0"/>
          </a:p>
        </p:txBody>
      </p:sp>
      <p:sp>
        <p:nvSpPr>
          <p:cNvPr id="8" name="Text 6"/>
          <p:cNvSpPr txBox="1"/>
          <p:nvPr/>
        </p:nvSpPr>
        <p:spPr>
          <a:xfrm>
            <a:off x="6583680" y="2286000"/>
            <a:ext cx="4572000" cy="320040"/>
          </a:xfrm>
          <a:prstGeom prst="rect">
            <a:avLst/>
          </a:prstGeom>
          <a:noFill/>
          <a:ln/>
        </p:spPr>
        <p:txBody>
          <a:bodyPr wrap="square" lIns="0" tIns="0" rIns="0" bIns="0" rtlCol="0" anchor="t"/>
          <a:lstStyle/>
          <a:p>
            <a:pPr indent="0" marL="0">
              <a:buNone/>
            </a:pPr>
            <a:r>
              <a:rPr lang="en-US" sz="1600" b="1" spc="300" kern="0" dirty="0">
                <a:solidFill>
                  <a:schemeClr val="accent2"/>
                </a:solidFill>
                <a:latin typeface="Consolas" pitchFamily="34" charset="0"/>
                <a:ea typeface="Consolas" pitchFamily="34" charset="-122"/>
                <a:cs typeface="Consolas" pitchFamily="34" charset="-120"/>
              </a:rPr>
              <a:t>EMERGENCY</a:t>
            </a:r>
            <a:endParaRPr lang="en-US" sz="1600" dirty="0"/>
          </a:p>
        </p:txBody>
      </p:sp>
      <p:sp>
        <p:nvSpPr>
          <p:cNvPr id="9" name="Text 7"/>
          <p:cNvSpPr txBox="1"/>
          <p:nvPr/>
        </p:nvSpPr>
        <p:spPr>
          <a:xfrm>
            <a:off x="6583680" y="2651760"/>
            <a:ext cx="493776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Act in seconds</a:t>
            </a:r>
            <a:endParaRPr lang="en-US" sz="3000" dirty="0"/>
          </a:p>
        </p:txBody>
      </p:sp>
      <p:sp>
        <p:nvSpPr>
          <p:cNvPr id="10" name="Text 8"/>
          <p:cNvSpPr txBox="1"/>
          <p:nvPr/>
        </p:nvSpPr>
        <p:spPr>
          <a:xfrm>
            <a:off x="6583680" y="3429000"/>
            <a:ext cx="4754880" cy="1920240"/>
          </a:xfrm>
          <a:prstGeom prst="rect">
            <a:avLst/>
          </a:prstGeom>
          <a:noFill/>
          <a:ln/>
        </p:spPr>
        <p:txBody>
          <a:bodyPr wrap="square" lIns="0" tIns="0" rIns="0" bIns="0" rtlCol="0" anchor="t"/>
          <a:lstStyle/>
          <a:p>
            <a:pPr indent="0" marL="0">
              <a:spcAft>
                <a:spcPts val="1400"/>
              </a:spcAft>
              <a:buNone/>
            </a:pPr>
            <a:r>
              <a:rPr lang="en-US" sz="2100" dirty="0">
                <a:solidFill>
                  <a:schemeClr val="bg1"/>
                </a:solidFill>
              </a:rPr>
              <a:t>Beat and spoken steps start at once</a:t>
            </a:r>
            <a:endParaRPr lang="en-US" sz="2100" dirty="0"/>
          </a:p>
          <a:p>
            <a:pPr indent="0" marL="0">
              <a:spcAft>
                <a:spcPts val="1400"/>
              </a:spcAft>
              <a:buNone/>
            </a:pPr>
            <a:r>
              <a:rPr lang="en-US" sz="2100" dirty="0">
                <a:solidFill>
                  <a:schemeClr val="bg1"/>
                </a:solidFill>
              </a:rPr>
              <a:t>Never waits for the camera</a:t>
            </a:r>
            <a:endParaRPr lang="en-US" sz="2100" dirty="0"/>
          </a:p>
          <a:p>
            <a:pPr indent="0" marL="0">
              <a:spcAft>
                <a:spcPts val="1400"/>
              </a:spcAft>
              <a:buNone/>
            </a:pPr>
            <a:r>
              <a:rPr lang="en-US" sz="2100" dirty="0">
                <a:solidFill>
                  <a:schemeClr val="bg1"/>
                </a:solidFill>
              </a:rPr>
              <a:t>Call 112 opens the dialer; AED reminder at 30 s</a:t>
            </a:r>
            <a:endParaRPr lang="en-US" sz="2100" dirty="0"/>
          </a:p>
        </p:txBody>
      </p:sp>
      <p:sp>
        <p:nvSpPr>
          <p:cNvPr id="11" name="Text 9"/>
          <p:cNvSpPr txBox="1"/>
          <p:nvPr/>
        </p:nvSpPr>
        <p:spPr>
          <a:xfrm>
            <a:off x="6583680" y="5577840"/>
            <a:ext cx="4937760" cy="347472"/>
          </a:xfrm>
          <a:prstGeom prst="rect">
            <a:avLst/>
          </a:prstGeom>
          <a:noFill/>
          <a:ln/>
        </p:spPr>
        <p:txBody>
          <a:bodyPr wrap="square" lIns="0" tIns="0" rIns="0" bIns="0" rtlCol="0" anchor="t"/>
          <a:lstStyle/>
          <a:p>
            <a:pPr indent="0" marL="0">
              <a:buNone/>
            </a:pPr>
            <a:r>
              <a:rPr lang="en-US" sz="1600" dirty="0">
                <a:solidFill>
                  <a:schemeClr val="accent2"/>
                </a:solidFill>
                <a:latin typeface="Consolas" pitchFamily="34" charset="0"/>
                <a:ea typeface="Consolas" pitchFamily="34" charset="-122"/>
                <a:cs typeface="Consolas" pitchFamily="34" charset="-120"/>
              </a:rPr>
              <a:t>Ran on a phone: steps, beat, dialer</a:t>
            </a:r>
            <a:endParaRPr lang="en-US" sz="16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coaches in ten Indian languages, each in its own script</a:t>
            </a:r>
            <a:endParaRPr lang="en-US" sz="4000" dirty="0"/>
          </a:p>
        </p:txBody>
      </p:sp>
      <p:sp>
        <p:nvSpPr>
          <p:cNvPr id="3" name="Text 1"/>
          <p:cNvSpPr txBox="1"/>
          <p:nvPr/>
        </p:nvSpPr>
        <p:spPr>
          <a:xfrm>
            <a:off x="685800" y="2331720"/>
            <a:ext cx="2164019" cy="822960"/>
          </a:xfrm>
          <a:prstGeom prst="rect">
            <a:avLst/>
          </a:prstGeom>
          <a:noFill/>
          <a:ln/>
        </p:spPr>
        <p:txBody>
          <a:bodyPr wrap="non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English</a:t>
            </a:r>
            <a:endParaRPr lang="en-US" sz="3200" dirty="0"/>
          </a:p>
        </p:txBody>
      </p:sp>
      <p:sp>
        <p:nvSpPr>
          <p:cNvPr id="4" name="Text 2"/>
          <p:cNvSpPr txBox="1"/>
          <p:nvPr/>
        </p:nvSpPr>
        <p:spPr>
          <a:xfrm>
            <a:off x="2849819"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हिन्दी</a:t>
            </a:r>
            <a:endParaRPr lang="en-US" sz="3200" dirty="0"/>
          </a:p>
        </p:txBody>
      </p:sp>
      <p:sp>
        <p:nvSpPr>
          <p:cNvPr id="5" name="Text 3"/>
          <p:cNvSpPr txBox="1"/>
          <p:nvPr/>
        </p:nvSpPr>
        <p:spPr>
          <a:xfrm>
            <a:off x="5013838"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ಕನ್ನಡ</a:t>
            </a:r>
            <a:endParaRPr lang="en-US" sz="3200" dirty="0"/>
          </a:p>
        </p:txBody>
      </p:sp>
      <p:sp>
        <p:nvSpPr>
          <p:cNvPr id="6" name="Text 4"/>
          <p:cNvSpPr txBox="1"/>
          <p:nvPr/>
        </p:nvSpPr>
        <p:spPr>
          <a:xfrm>
            <a:off x="7177857"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मराठी</a:t>
            </a:r>
            <a:endParaRPr lang="en-US" sz="3200" dirty="0"/>
          </a:p>
        </p:txBody>
      </p:sp>
      <p:sp>
        <p:nvSpPr>
          <p:cNvPr id="7" name="Text 5"/>
          <p:cNvSpPr txBox="1"/>
          <p:nvPr/>
        </p:nvSpPr>
        <p:spPr>
          <a:xfrm>
            <a:off x="9341876" y="233172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ગુજરાતી</a:t>
            </a:r>
            <a:endParaRPr lang="en-US" sz="3200" dirty="0"/>
          </a:p>
        </p:txBody>
      </p:sp>
      <p:sp>
        <p:nvSpPr>
          <p:cNvPr id="8" name="Text 6"/>
          <p:cNvSpPr txBox="1"/>
          <p:nvPr/>
        </p:nvSpPr>
        <p:spPr>
          <a:xfrm>
            <a:off x="685800"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বাংলা</a:t>
            </a:r>
            <a:endParaRPr lang="en-US" sz="3200" dirty="0"/>
          </a:p>
        </p:txBody>
      </p:sp>
      <p:sp>
        <p:nvSpPr>
          <p:cNvPr id="9" name="Text 7"/>
          <p:cNvSpPr txBox="1"/>
          <p:nvPr/>
        </p:nvSpPr>
        <p:spPr>
          <a:xfrm>
            <a:off x="2849819"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ଓଡ଼ିଆ</a:t>
            </a:r>
            <a:endParaRPr lang="en-US" sz="3200" dirty="0"/>
          </a:p>
        </p:txBody>
      </p:sp>
      <p:sp>
        <p:nvSpPr>
          <p:cNvPr id="10" name="Text 8"/>
          <p:cNvSpPr txBox="1"/>
          <p:nvPr/>
        </p:nvSpPr>
        <p:spPr>
          <a:xfrm>
            <a:off x="5013838"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தமிழ்</a:t>
            </a:r>
            <a:endParaRPr lang="en-US" sz="3200" dirty="0"/>
          </a:p>
        </p:txBody>
      </p:sp>
      <p:sp>
        <p:nvSpPr>
          <p:cNvPr id="11" name="Text 9"/>
          <p:cNvSpPr txBox="1"/>
          <p:nvPr/>
        </p:nvSpPr>
        <p:spPr>
          <a:xfrm>
            <a:off x="7177857"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తెలుగు</a:t>
            </a:r>
            <a:endParaRPr lang="en-US" sz="3200" dirty="0"/>
          </a:p>
        </p:txBody>
      </p:sp>
      <p:sp>
        <p:nvSpPr>
          <p:cNvPr id="12" name="Text 10"/>
          <p:cNvSpPr txBox="1"/>
          <p:nvPr/>
        </p:nvSpPr>
        <p:spPr>
          <a:xfrm>
            <a:off x="9341876" y="3566160"/>
            <a:ext cx="2164019" cy="822960"/>
          </a:xfrm>
          <a:prstGeom prst="rect">
            <a:avLst/>
          </a:prstGeom>
          <a:noFill/>
          <a:ln/>
        </p:spPr>
        <p:txBody>
          <a:bodyPr wrap="none" lIns="0" tIns="0" rIns="0" bIns="0" rtlCol="0" anchor="t"/>
          <a:lstStyle/>
          <a:p>
            <a:pPr indent="0" marL="0">
              <a:buNone/>
            </a:pPr>
            <a:r>
              <a:rPr lang="en-US" sz="3200" dirty="0">
                <a:solidFill>
                  <a:schemeClr val="bg1"/>
                </a:solidFill>
                <a:latin typeface="Nirmala UI" pitchFamily="34" charset="0"/>
                <a:ea typeface="Nirmala UI" pitchFamily="34" charset="-122"/>
                <a:cs typeface="Nirmala UI" pitchFamily="34" charset="-120"/>
              </a:rPr>
              <a:t>മലയാളം</a:t>
            </a:r>
            <a:endParaRPr lang="en-US" sz="3200" dirty="0"/>
          </a:p>
        </p:txBody>
      </p:sp>
      <p:sp>
        <p:nvSpPr>
          <p:cNvPr id="13" name="Text 11"/>
          <p:cNvSpPr txBox="1"/>
          <p:nvPr/>
        </p:nvSpPr>
        <p:spPr>
          <a:xfrm>
            <a:off x="685800" y="5120640"/>
            <a:ext cx="10820095" cy="411480"/>
          </a:xfrm>
          <a:prstGeom prst="rect">
            <a:avLst/>
          </a:prstGeom>
          <a:noFill/>
          <a:ln/>
        </p:spPr>
        <p:txBody>
          <a:bodyPr wrap="square" lIns="0" tIns="0" rIns="0" bIns="0" rtlCol="0" anchor="t"/>
          <a:lstStyle/>
          <a:p>
            <a:pPr indent="0" marL="0">
              <a:buNone/>
            </a:pPr>
            <a:r>
              <a:rPr lang="en-US" sz="2000" dirty="0">
                <a:solidFill>
                  <a:schemeClr val="bg2"/>
                </a:solidFill>
              </a:rPr>
              <a:t>English is checked. The other nine are machine-translated and need native-speaker review.</a:t>
            </a:r>
            <a:endParaRPr lang="en-US" sz="2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Live demo</a:t>
            </a:r>
            <a:endParaRPr lang="en-US" sz="8000" dirty="0"/>
          </a:p>
        </p:txBody>
      </p:sp>
      <p:sp>
        <p:nvSpPr>
          <p:cNvPr id="3" name="Text 1"/>
          <p:cNvSpPr txBox="1"/>
          <p:nvPr/>
        </p:nvSpPr>
        <p:spPr>
          <a:xfrm>
            <a:off x="685800" y="2606040"/>
            <a:ext cx="10820095" cy="548640"/>
          </a:xfrm>
          <a:prstGeom prst="rect">
            <a:avLst/>
          </a:prstGeom>
          <a:noFill/>
          <a:ln/>
        </p:spPr>
        <p:txBody>
          <a:bodyPr wrap="square" lIns="0" tIns="0" rIns="0" bIns="0" rtlCol="0" anchor="t"/>
          <a:lstStyle/>
          <a:p>
            <a:pPr indent="0" marL="0">
              <a:buNone/>
            </a:pPr>
            <a:r>
              <a:rPr lang="en-US" sz="2600" b="1" dirty="0">
                <a:solidFill>
                  <a:schemeClr val="bg1"/>
                </a:solidFill>
                <a:latin typeface="Consolas" pitchFamily="34" charset="0"/>
                <a:ea typeface="Consolas" pitchFamily="34" charset="-122"/>
                <a:cs typeface="Consolas" pitchFamily="34" charset="-120"/>
              </a:rPr>
              <a:t>Guide</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accent1"/>
                </a:solidFill>
                <a:latin typeface="Consolas" pitchFamily="34" charset="0"/>
                <a:ea typeface="Consolas" pitchFamily="34" charset="-122"/>
                <a:cs typeface="Consolas" pitchFamily="34" charset="-120"/>
              </a:rPr>
              <a:t>Practise</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accent2"/>
                </a:solidFill>
                <a:latin typeface="Consolas" pitchFamily="34" charset="0"/>
                <a:ea typeface="Consolas" pitchFamily="34" charset="-122"/>
                <a:cs typeface="Consolas" pitchFamily="34" charset="-120"/>
              </a:rPr>
              <a:t>Emergency</a:t>
            </a:r>
            <a:pPr indent="0" marL="0">
              <a:buNone/>
            </a:pPr>
            <a:r>
              <a:rPr lang="en-US" sz="2600" b="1" dirty="0">
                <a:solidFill>
                  <a:schemeClr val="bg2"/>
                </a:solidFill>
                <a:latin typeface="Consolas" pitchFamily="34" charset="0"/>
                <a:ea typeface="Consolas" pitchFamily="34" charset="-122"/>
                <a:cs typeface="Consolas" pitchFamily="34" charset="-120"/>
              </a:rPr>
              <a:t>  →  </a:t>
            </a:r>
            <a:pPr indent="0" marL="0">
              <a:buNone/>
            </a:pPr>
            <a:r>
              <a:rPr lang="en-US" sz="2600" b="1" dirty="0">
                <a:solidFill>
                  <a:schemeClr val="bg1"/>
                </a:solidFill>
                <a:latin typeface="Consolas" pitchFamily="34" charset="0"/>
                <a:ea typeface="Consolas" pitchFamily="34" charset="-122"/>
                <a:cs typeface="Consolas" pitchFamily="34" charset="-120"/>
              </a:rPr>
              <a:t>Crew summary</a:t>
            </a:r>
            <a:endParaRPr lang="en-US" sz="2600" dirty="0"/>
          </a:p>
        </p:txBody>
      </p:sp>
      <p:sp>
        <p:nvSpPr>
          <p:cNvPr id="4" name="Text 2"/>
          <p:cNvSpPr txBox="1"/>
          <p:nvPr/>
        </p:nvSpPr>
        <p:spPr>
          <a:xfrm>
            <a:off x="685800" y="3520440"/>
            <a:ext cx="9144000" cy="411480"/>
          </a:xfrm>
          <a:prstGeom prst="rect">
            <a:avLst/>
          </a:prstGeom>
          <a:noFill/>
          <a:ln/>
        </p:spPr>
        <p:txBody>
          <a:bodyPr wrap="square" lIns="0" tIns="0" rIns="0" bIns="0" rtlCol="0" anchor="t"/>
          <a:lstStyle/>
          <a:p>
            <a:pPr indent="0" marL="0">
              <a:buNone/>
            </a:pPr>
            <a:r>
              <a:rPr lang="en-US" sz="2200" dirty="0">
                <a:solidFill>
                  <a:schemeClr val="bg2"/>
                </a:solidFill>
              </a:rPr>
              <a:t>Rescuer pushes a cushion and listens. Holder keeps the phone side-on.</a:t>
            </a:r>
            <a:endParaRPr lang="en-US" sz="2200" dirty="0"/>
          </a:p>
        </p:txBody>
      </p:sp>
      <p:sp>
        <p:nvSpPr>
          <p:cNvPr id="5" name="Text 3"/>
          <p:cNvSpPr txBox="1"/>
          <p:nvPr/>
        </p:nvSpPr>
        <p:spPr>
          <a:xfrm>
            <a:off x="685800" y="4069080"/>
            <a:ext cx="9144000" cy="411480"/>
          </a:xfrm>
          <a:prstGeom prst="rect">
            <a:avLst/>
          </a:prstGeom>
          <a:noFill/>
          <a:ln/>
        </p:spPr>
        <p:txBody>
          <a:bodyPr wrap="square" lIns="0" tIns="0" rIns="0" bIns="0" rtlCol="0" anchor="t"/>
          <a:lstStyle/>
          <a:p>
            <a:pPr indent="0" marL="0">
              <a:buNone/>
            </a:pPr>
            <a:r>
              <a:rPr lang="en-US" sz="2200" b="1" dirty="0">
                <a:solidFill>
                  <a:schemeClr val="accent2"/>
                </a:solidFill>
              </a:rPr>
              <a:t>Cushion only, never a person. No real call is placed.</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shows a dash, never a guess, for anything it can't see</a:t>
            </a:r>
            <a:endParaRPr lang="en-US" sz="4000" dirty="0"/>
          </a:p>
        </p:txBody>
      </p:sp>
      <p:sp>
        <p:nvSpPr>
          <p:cNvPr id="3" name="Text 1"/>
          <p:cNvSpPr txBox="1"/>
          <p:nvPr/>
        </p:nvSpPr>
        <p:spPr>
          <a:xfrm>
            <a:off x="685800" y="2240280"/>
            <a:ext cx="45720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IT MEASURES</a:t>
            </a:r>
            <a:endParaRPr lang="en-US" sz="1600" dirty="0"/>
          </a:p>
        </p:txBody>
      </p:sp>
      <p:sp>
        <p:nvSpPr>
          <p:cNvPr id="4" name="Text 2"/>
          <p:cNvSpPr txBox="1"/>
          <p:nvPr/>
        </p:nvSpPr>
        <p:spPr>
          <a:xfrm>
            <a:off x="685800" y="2651760"/>
            <a:ext cx="4846320" cy="1737360"/>
          </a:xfrm>
          <a:prstGeom prst="rect">
            <a:avLst/>
          </a:prstGeom>
          <a:noFill/>
          <a:ln/>
        </p:spPr>
        <p:txBody>
          <a:bodyPr wrap="square" lIns="0" tIns="0" rIns="0" bIns="0" rtlCol="0" anchor="t"/>
          <a:lstStyle/>
          <a:p>
            <a:pPr indent="0" marL="0">
              <a:spcAft>
                <a:spcPts val="800"/>
              </a:spcAft>
              <a:buNone/>
            </a:pPr>
            <a:r>
              <a:rPr lang="en-US" sz="2200" dirty="0">
                <a:solidFill>
                  <a:schemeClr val="bg1"/>
                </a:solidFill>
              </a:rPr>
              <a:t>Push rate</a:t>
            </a:r>
            <a:endParaRPr lang="en-US" sz="2200" dirty="0"/>
          </a:p>
          <a:p>
            <a:pPr indent="0" marL="0">
              <a:spcAft>
                <a:spcPts val="800"/>
              </a:spcAft>
              <a:buNone/>
            </a:pPr>
            <a:r>
              <a:rPr lang="en-US" sz="2200" dirty="0">
                <a:solidFill>
                  <a:schemeClr val="bg1"/>
                </a:solidFill>
              </a:rPr>
              <a:t>Elbow angle</a:t>
            </a:r>
            <a:endParaRPr lang="en-US" sz="2200" dirty="0"/>
          </a:p>
          <a:p>
            <a:pPr indent="0" marL="0">
              <a:spcAft>
                <a:spcPts val="800"/>
              </a:spcAft>
              <a:buNone/>
            </a:pPr>
            <a:r>
              <a:rPr lang="en-US" sz="2200" dirty="0">
                <a:solidFill>
                  <a:schemeClr val="bg1"/>
                </a:solidFill>
              </a:rPr>
              <a:t>Pauses</a:t>
            </a:r>
            <a:endParaRPr lang="en-US" sz="2200" dirty="0"/>
          </a:p>
          <a:p>
            <a:pPr indent="0" marL="0">
              <a:spcAft>
                <a:spcPts val="800"/>
              </a:spcAft>
              <a:buNone/>
            </a:pPr>
            <a:r>
              <a:rPr lang="en-US" sz="2200" dirty="0">
                <a:solidFill>
                  <a:schemeClr val="bg1"/>
                </a:solidFill>
              </a:rPr>
              <a:t>Tracking quality</a:t>
            </a:r>
            <a:endParaRPr lang="en-US" sz="2200" dirty="0"/>
          </a:p>
        </p:txBody>
      </p:sp>
      <p:sp>
        <p:nvSpPr>
          <p:cNvPr id="5" name="Text 3"/>
          <p:cNvSpPr txBox="1"/>
          <p:nvPr/>
        </p:nvSpPr>
        <p:spPr>
          <a:xfrm>
            <a:off x="6583680" y="2240280"/>
            <a:ext cx="4572000" cy="320040"/>
          </a:xfrm>
          <a:prstGeom prst="rect">
            <a:avLst/>
          </a:prstGeom>
          <a:noFill/>
          <a:ln/>
        </p:spPr>
        <p:txBody>
          <a:bodyPr wrap="square" lIns="0" tIns="0" rIns="0" bIns="0" rtlCol="0" anchor="t"/>
          <a:lstStyle/>
          <a:p>
            <a:pPr indent="0" marL="0">
              <a:buNone/>
            </a:pPr>
            <a:r>
              <a:rPr lang="en-US" sz="1600" b="1" spc="300" kern="0" dirty="0">
                <a:solidFill>
                  <a:schemeClr val="bg2"/>
                </a:solidFill>
                <a:latin typeface="Consolas" pitchFamily="34" charset="0"/>
                <a:ea typeface="Consolas" pitchFamily="34" charset="-122"/>
                <a:cs typeface="Consolas" pitchFamily="34" charset="-120"/>
              </a:rPr>
              <a:t>ONE CAMERA CAN'T</a:t>
            </a:r>
            <a:endParaRPr lang="en-US" sz="1600" dirty="0"/>
          </a:p>
        </p:txBody>
      </p:sp>
      <p:sp>
        <p:nvSpPr>
          <p:cNvPr id="6" name="Text 4"/>
          <p:cNvSpPr txBox="1"/>
          <p:nvPr/>
        </p:nvSpPr>
        <p:spPr>
          <a:xfrm>
            <a:off x="6583680" y="2651760"/>
            <a:ext cx="4846320" cy="1737360"/>
          </a:xfrm>
          <a:prstGeom prst="rect">
            <a:avLst/>
          </a:prstGeom>
          <a:noFill/>
          <a:ln/>
        </p:spPr>
        <p:txBody>
          <a:bodyPr wrap="square" lIns="0" tIns="0" rIns="0" bIns="0" rtlCol="0" anchor="t"/>
          <a:lstStyle/>
          <a:p>
            <a:pPr indent="0" marL="0">
              <a:spcAft>
                <a:spcPts val="800"/>
              </a:spcAft>
              <a:buNone/>
            </a:pPr>
            <a:r>
              <a:rPr lang="en-US" sz="2200" dirty="0">
                <a:solidFill>
                  <a:schemeClr val="bg2"/>
                </a:solidFill>
              </a:rPr>
              <a:t>Compression depth</a:t>
            </a:r>
            <a:endParaRPr lang="en-US" sz="2200" dirty="0"/>
          </a:p>
          <a:p>
            <a:pPr indent="0" marL="0">
              <a:spcAft>
                <a:spcPts val="800"/>
              </a:spcAft>
              <a:buNone/>
            </a:pPr>
            <a:r>
              <a:rPr lang="en-US" sz="2200" dirty="0">
                <a:solidFill>
                  <a:schemeClr val="bg2"/>
                </a:solidFill>
              </a:rPr>
              <a:t>Force and full recoil</a:t>
            </a:r>
            <a:endParaRPr lang="en-US" sz="2200" dirty="0"/>
          </a:p>
          <a:p>
            <a:pPr indent="0" marL="0">
              <a:spcAft>
                <a:spcPts val="800"/>
              </a:spcAft>
              <a:buNone/>
            </a:pPr>
            <a:r>
              <a:rPr lang="en-US" sz="2200" dirty="0">
                <a:solidFill>
                  <a:schemeClr val="bg2"/>
                </a:solidFill>
              </a:rPr>
              <a:t>Exact hand placement</a:t>
            </a:r>
            <a:endParaRPr lang="en-US" sz="2200" dirty="0"/>
          </a:p>
          <a:p>
            <a:pPr indent="0" marL="0">
              <a:spcAft>
                <a:spcPts val="800"/>
              </a:spcAft>
              <a:buNone/>
            </a:pPr>
            <a:r>
              <a:rPr lang="en-US" sz="2200" dirty="0">
                <a:solidFill>
                  <a:schemeClr val="bg2"/>
                </a:solidFill>
              </a:rPr>
              <a:t>Clinical effectiveness</a:t>
            </a:r>
            <a:endParaRPr lang="en-US" sz="2200" dirty="0"/>
          </a:p>
        </p:txBody>
      </p:sp>
      <p:pic>
        <p:nvPicPr>
          <p:cNvPr id="7" name="Image 0" descr="A push rhythm line with a gap where the camera loses the arms">    </p:cNvPr>
          <p:cNvPicPr>
            <a:picLocks noChangeAspect="1"/>
          </p:cNvPicPr>
          <p:nvPr/>
        </p:nvPicPr>
        <p:blipFill>
          <a:blip r:embed="rId1"/>
          <a:stretch>
            <a:fillRect/>
          </a:stretch>
        </p:blipFill>
        <p:spPr>
          <a:xfrm>
            <a:off x="685800" y="4526280"/>
            <a:ext cx="10820095" cy="672084"/>
          </a:xfrm>
          <a:prstGeom prst="rect">
            <a:avLst/>
          </a:prstGeom>
        </p:spPr>
      </p:pic>
      <p:sp>
        <p:nvSpPr>
          <p:cNvPr id="8" name="Text 5"/>
          <p:cNvSpPr txBox="1"/>
          <p:nvPr/>
        </p:nvSpPr>
        <p:spPr>
          <a:xfrm>
            <a:off x="5120640" y="4480560"/>
            <a:ext cx="1920240" cy="731520"/>
          </a:xfrm>
          <a:prstGeom prst="rect">
            <a:avLst/>
          </a:prstGeom>
          <a:noFill/>
          <a:ln/>
        </p:spPr>
        <p:txBody>
          <a:bodyPr wrap="square" lIns="0" tIns="0" rIns="0" bIns="0" rtlCol="0" anchor="t"/>
          <a:lstStyle/>
          <a:p>
            <a:pPr algn="ctr" indent="0" marL="0">
              <a:buNone/>
            </a:pPr>
            <a:r>
              <a:rPr lang="en-US" sz="4000" b="1" dirty="0">
                <a:solidFill>
                  <a:schemeClr val="bg1"/>
                </a:solidFill>
                <a:latin typeface="Consolas" pitchFamily="34" charset="0"/>
                <a:ea typeface="Consolas" pitchFamily="34" charset="-122"/>
                <a:cs typeface="Consolas" pitchFamily="34" charset="-120"/>
              </a:rPr>
              <a:t>—</a:t>
            </a:r>
            <a:endParaRPr lang="en-US" sz="4000" dirty="0"/>
          </a:p>
        </p:txBody>
      </p:sp>
      <p:sp>
        <p:nvSpPr>
          <p:cNvPr id="9" name="Text 6"/>
          <p:cNvSpPr txBox="1"/>
          <p:nvPr/>
        </p:nvSpPr>
        <p:spPr>
          <a:xfrm>
            <a:off x="685800" y="5532120"/>
            <a:ext cx="10820095" cy="411480"/>
          </a:xfrm>
          <a:prstGeom prst="rect">
            <a:avLst/>
          </a:prstGeom>
          <a:noFill/>
          <a:ln/>
        </p:spPr>
        <p:txBody>
          <a:bodyPr wrap="square" lIns="0" tIns="0" rIns="0" bIns="0" rtlCol="0" anchor="t"/>
          <a:lstStyle/>
          <a:p>
            <a:pPr indent="0" marL="0">
              <a:buNone/>
            </a:pPr>
            <a:r>
              <a:rPr lang="en-US" sz="2000" dirty="0">
                <a:solidFill>
                  <a:schemeClr val="accent3"/>
                </a:solidFill>
              </a:rPr>
              <a:t>Hand-counted accuracy runs come next. Until then, we quote no accuracy figures.</a:t>
            </a:r>
            <a:endParaRPr lang="en-US" sz="2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399 tests and 7 real recordings</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gate every change</a:t>
            </a:r>
            <a:endParaRPr lang="en-US" sz="4000" dirty="0"/>
          </a:p>
        </p:txBody>
      </p:sp>
      <p:sp>
        <p:nvSpPr>
          <p:cNvPr id="3" name="Text 1"/>
          <p:cNvSpPr txBox="1"/>
          <p:nvPr/>
        </p:nvSpPr>
        <p:spPr>
          <a:xfrm>
            <a:off x="685800"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399</a:t>
            </a:r>
            <a:endParaRPr lang="en-US" sz="8000" dirty="0"/>
          </a:p>
        </p:txBody>
      </p:sp>
      <p:sp>
        <p:nvSpPr>
          <p:cNvPr id="4" name="Text 2"/>
          <p:cNvSpPr txBox="1"/>
          <p:nvPr/>
        </p:nvSpPr>
        <p:spPr>
          <a:xfrm>
            <a:off x="685800"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unit tests passing, 0 failing</a:t>
            </a:r>
            <a:endParaRPr lang="en-US" sz="1900" dirty="0"/>
          </a:p>
        </p:txBody>
      </p:sp>
      <p:sp>
        <p:nvSpPr>
          <p:cNvPr id="5" name="Shape 3"/>
          <p:cNvSpPr/>
          <p:nvPr/>
        </p:nvSpPr>
        <p:spPr>
          <a:xfrm>
            <a:off x="3207944" y="2148840"/>
            <a:ext cx="0" cy="2377440"/>
          </a:xfrm>
          <a:prstGeom prst="line">
            <a:avLst/>
          </a:prstGeom>
          <a:noFill/>
          <a:ln w="12700">
            <a:solidFill>
              <a:schemeClr val="accent4"/>
            </a:solidFill>
            <a:prstDash val="solid"/>
          </a:ln>
        </p:spPr>
      </p:sp>
      <p:sp>
        <p:nvSpPr>
          <p:cNvPr id="6" name="Text 4"/>
          <p:cNvSpPr txBox="1"/>
          <p:nvPr/>
        </p:nvSpPr>
        <p:spPr>
          <a:xfrm>
            <a:off x="3390824"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7</a:t>
            </a:r>
            <a:endParaRPr lang="en-US" sz="8000" dirty="0"/>
          </a:p>
        </p:txBody>
      </p:sp>
      <p:sp>
        <p:nvSpPr>
          <p:cNvPr id="7" name="Text 5"/>
          <p:cNvSpPr txBox="1"/>
          <p:nvPr/>
        </p:nvSpPr>
        <p:spPr>
          <a:xfrm>
            <a:off x="3390824"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real phone recordings must replay byte for byte</a:t>
            </a:r>
            <a:endParaRPr lang="en-US" sz="1900" dirty="0"/>
          </a:p>
        </p:txBody>
      </p:sp>
      <p:sp>
        <p:nvSpPr>
          <p:cNvPr id="8" name="Shape 6"/>
          <p:cNvSpPr/>
          <p:nvPr/>
        </p:nvSpPr>
        <p:spPr>
          <a:xfrm>
            <a:off x="5912968" y="2148840"/>
            <a:ext cx="0" cy="2377440"/>
          </a:xfrm>
          <a:prstGeom prst="line">
            <a:avLst/>
          </a:prstGeom>
          <a:noFill/>
          <a:ln w="12700">
            <a:solidFill>
              <a:schemeClr val="accent4"/>
            </a:solidFill>
            <a:prstDash val="solid"/>
          </a:ln>
        </p:spPr>
      </p:sp>
      <p:sp>
        <p:nvSpPr>
          <p:cNvPr id="9" name="Text 7"/>
          <p:cNvSpPr txBox="1"/>
          <p:nvPr/>
        </p:nvSpPr>
        <p:spPr>
          <a:xfrm>
            <a:off x="6095848" y="2011680"/>
            <a:ext cx="2339264" cy="1188720"/>
          </a:xfrm>
          <a:prstGeom prst="rect">
            <a:avLst/>
          </a:prstGeom>
          <a:noFill/>
          <a:ln/>
        </p:spPr>
        <p:txBody>
          <a:bodyPr wrap="square" lIns="0" tIns="0" rIns="0" bIns="0" rtlCol="0" anchor="t"/>
          <a:lstStyle/>
          <a:p>
            <a:pPr indent="0" marL="0">
              <a:buNone/>
            </a:pPr>
            <a:r>
              <a:rPr lang="en-US" sz="8000" b="1" dirty="0">
                <a:solidFill>
                  <a:schemeClr val="accent1"/>
                </a:solidFill>
                <a:latin typeface="Consolas" pitchFamily="34" charset="0"/>
                <a:ea typeface="Consolas" pitchFamily="34" charset="-122"/>
                <a:cs typeface="Consolas" pitchFamily="34" charset="-120"/>
              </a:rPr>
              <a:t>2</a:t>
            </a:r>
            <a:endParaRPr lang="en-US" sz="8000" dirty="0"/>
          </a:p>
        </p:txBody>
      </p:sp>
      <p:sp>
        <p:nvSpPr>
          <p:cNvPr id="10" name="Text 8"/>
          <p:cNvSpPr txBox="1"/>
          <p:nvPr/>
        </p:nvSpPr>
        <p:spPr>
          <a:xfrm>
            <a:off x="6095848"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Android phones for on-device testing</a:t>
            </a:r>
            <a:endParaRPr lang="en-US" sz="1900" dirty="0"/>
          </a:p>
        </p:txBody>
      </p:sp>
      <p:sp>
        <p:nvSpPr>
          <p:cNvPr id="11" name="Shape 9"/>
          <p:cNvSpPr/>
          <p:nvPr/>
        </p:nvSpPr>
        <p:spPr>
          <a:xfrm>
            <a:off x="8617991" y="2148840"/>
            <a:ext cx="0" cy="2377440"/>
          </a:xfrm>
          <a:prstGeom prst="line">
            <a:avLst/>
          </a:prstGeom>
          <a:noFill/>
          <a:ln w="12700">
            <a:solidFill>
              <a:schemeClr val="accent4"/>
            </a:solidFill>
            <a:prstDash val="solid"/>
          </a:ln>
        </p:spPr>
      </p:sp>
      <p:sp>
        <p:nvSpPr>
          <p:cNvPr id="12" name="Text 10"/>
          <p:cNvSpPr txBox="1"/>
          <p:nvPr/>
        </p:nvSpPr>
        <p:spPr>
          <a:xfrm>
            <a:off x="8800871" y="2011680"/>
            <a:ext cx="2339264" cy="1188720"/>
          </a:xfrm>
          <a:prstGeom prst="rect">
            <a:avLst/>
          </a:prstGeom>
          <a:noFill/>
          <a:ln/>
        </p:spPr>
        <p:txBody>
          <a:bodyPr wrap="square" lIns="0" tIns="0" rIns="0" bIns="0" rtlCol="0" anchor="t"/>
          <a:lstStyle/>
          <a:p>
            <a:pPr indent="0" marL="0">
              <a:buNone/>
            </a:pPr>
            <a:r>
              <a:rPr lang="en-US" sz="8000" b="1" dirty="0">
                <a:solidFill>
                  <a:schemeClr val="bg1"/>
                </a:solidFill>
                <a:latin typeface="Consolas" pitchFamily="34" charset="0"/>
                <a:ea typeface="Consolas" pitchFamily="34" charset="-122"/>
                <a:cs typeface="Consolas" pitchFamily="34" charset="-120"/>
              </a:rPr>
              <a:t>14</a:t>
            </a:r>
            <a:endParaRPr lang="en-US" sz="8000" dirty="0"/>
          </a:p>
        </p:txBody>
      </p:sp>
      <p:sp>
        <p:nvSpPr>
          <p:cNvPr id="13" name="Text 11"/>
          <p:cNvSpPr txBox="1"/>
          <p:nvPr/>
        </p:nvSpPr>
        <p:spPr>
          <a:xfrm>
            <a:off x="8800871" y="3337560"/>
            <a:ext cx="2247824" cy="1097280"/>
          </a:xfrm>
          <a:prstGeom prst="rect">
            <a:avLst/>
          </a:prstGeom>
          <a:noFill/>
          <a:ln/>
        </p:spPr>
        <p:txBody>
          <a:bodyPr wrap="square" lIns="0" tIns="0" rIns="0" bIns="0" rtlCol="0" anchor="t"/>
          <a:lstStyle/>
          <a:p>
            <a:pPr indent="0" marL="0">
              <a:buNone/>
            </a:pPr>
            <a:r>
              <a:rPr lang="en-US" sz="1900" dirty="0">
                <a:solidFill>
                  <a:schemeClr val="bg2"/>
                </a:solidFill>
              </a:rPr>
              <a:t>AI agents on 4 PCs, one lead reviewing every diff</a:t>
            </a:r>
            <a:endParaRPr lang="en-US" sz="1900" dirty="0"/>
          </a:p>
        </p:txBody>
      </p:sp>
      <p:sp>
        <p:nvSpPr>
          <p:cNvPr id="14" name="Text 12"/>
          <p:cNvSpPr txBox="1"/>
          <p:nvPr/>
        </p:nvSpPr>
        <p:spPr>
          <a:xfrm>
            <a:off x="685800" y="5120640"/>
            <a:ext cx="10820095" cy="731520"/>
          </a:xfrm>
          <a:prstGeom prst="rect">
            <a:avLst/>
          </a:prstGeom>
          <a:noFill/>
          <a:ln/>
        </p:spPr>
        <p:txBody>
          <a:bodyPr wrap="square" lIns="0" tIns="0" rIns="0" bIns="0" rtlCol="0" anchor="t"/>
          <a:lstStyle/>
          <a:p>
            <a:pPr indent="0" marL="0">
              <a:buNone/>
            </a:pPr>
            <a:r>
              <a:rPr lang="en-US" sz="2200" dirty="0">
                <a:solidFill>
                  <a:schemeClr val="bg1"/>
                </a:solidFill>
              </a:rPr>
              <a:t>Built in 24 hours by four people and an AI agent swarm. No change merges without passing both gates.</a:t>
            </a:r>
            <a:endParaRPr lang="en-US" sz="2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Next: count it by hand,</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then test it with CPR trainers</a:t>
            </a:r>
            <a:endParaRPr lang="en-US" sz="4000" dirty="0"/>
          </a:p>
        </p:txBody>
      </p:sp>
      <p:sp>
        <p:nvSpPr>
          <p:cNvPr id="3" name="Text 1"/>
          <p:cNvSpPr txBox="1"/>
          <p:nvPr/>
        </p:nvSpPr>
        <p:spPr>
          <a:xfrm>
            <a:off x="685800" y="2057400"/>
            <a:ext cx="7315200" cy="457200"/>
          </a:xfrm>
          <a:prstGeom prst="rect">
            <a:avLst/>
          </a:prstGeom>
          <a:noFill/>
          <a:ln/>
        </p:spPr>
        <p:txBody>
          <a:bodyPr wrap="square" lIns="0" tIns="0" rIns="0" bIns="0" rtlCol="0" anchor="t"/>
          <a:lstStyle/>
          <a:p>
            <a:pPr indent="0" marL="0">
              <a:buNone/>
            </a:pPr>
            <a:r>
              <a:rPr lang="en-US" sz="2400" dirty="0">
                <a:solidFill>
                  <a:schemeClr val="bg2"/>
                </a:solidFill>
              </a:rPr>
              <a:t>Then pilot it with NSS units, first-aid clubs and schools.</a:t>
            </a:r>
            <a:endParaRPr lang="en-US" sz="2400" dirty="0"/>
          </a:p>
        </p:txBody>
      </p:sp>
      <p:pic>
        <p:nvPicPr>
          <p:cNvPr id="4" name="Image 0" descr="A slow amber rhythm corrected into a steady teal rhythm">    </p:cNvPr>
          <p:cNvPicPr>
            <a:picLocks noChangeAspect="1"/>
          </p:cNvPicPr>
          <p:nvPr/>
        </p:nvPicPr>
        <p:blipFill>
          <a:blip r:embed="rId1"/>
          <a:stretch>
            <a:fillRect/>
          </a:stretch>
        </p:blipFill>
        <p:spPr>
          <a:xfrm>
            <a:off x="685800" y="3017520"/>
            <a:ext cx="7013448" cy="667512"/>
          </a:xfrm>
          <a:prstGeom prst="rect">
            <a:avLst/>
          </a:prstGeom>
        </p:spPr>
      </p:pic>
      <p:pic>
        <p:nvPicPr>
          <p:cNvPr id="5" name="Image 1" descr="QR code linking to github.com/VivekTiwary-25/Zero_flux">    </p:cNvPr>
          <p:cNvPicPr>
            <a:picLocks noChangeAspect="1"/>
          </p:cNvPicPr>
          <p:nvPr/>
        </p:nvPicPr>
        <p:blipFill>
          <a:blip r:embed="rId2"/>
          <a:stretch>
            <a:fillRect/>
          </a:stretch>
        </p:blipFill>
        <p:spPr>
          <a:xfrm>
            <a:off x="9006840" y="1965960"/>
            <a:ext cx="2496312" cy="2496312"/>
          </a:xfrm>
          <a:prstGeom prst="rect">
            <a:avLst/>
          </a:prstGeom>
        </p:spPr>
      </p:pic>
      <p:sp>
        <p:nvSpPr>
          <p:cNvPr id="6" name="Text 2"/>
          <p:cNvSpPr txBox="1"/>
          <p:nvPr/>
        </p:nvSpPr>
        <p:spPr>
          <a:xfrm>
            <a:off x="8412480" y="4572000"/>
            <a:ext cx="3291840" cy="320040"/>
          </a:xfrm>
          <a:prstGeom prst="rect">
            <a:avLst/>
          </a:prstGeom>
          <a:noFill/>
          <a:ln/>
        </p:spPr>
        <p:txBody>
          <a:bodyPr wrap="square" lIns="0" tIns="0" rIns="0" bIns="0" rtlCol="0" anchor="t"/>
          <a:lstStyle/>
          <a:p>
            <a:pPr algn="ctr" indent="0" marL="0">
              <a:buNone/>
            </a:pPr>
            <a:r>
              <a:rPr lang="en-US" sz="1800" dirty="0">
                <a:solidFill>
                  <a:schemeClr val="bg1"/>
                </a:solidFill>
              </a:rPr>
              <a:t>Scan for the code and test records</a:t>
            </a:r>
            <a:endParaRPr lang="en-US" sz="1800" dirty="0"/>
          </a:p>
        </p:txBody>
      </p:sp>
      <p:sp>
        <p:nvSpPr>
          <p:cNvPr id="7" name="Text 3"/>
          <p:cNvSpPr txBox="1"/>
          <p:nvPr/>
        </p:nvSpPr>
        <p:spPr>
          <a:xfrm>
            <a:off x="8229600" y="4956048"/>
            <a:ext cx="3611880" cy="274320"/>
          </a:xfrm>
          <a:prstGeom prst="rect">
            <a:avLst/>
          </a:prstGeom>
          <a:noFill/>
          <a:ln/>
        </p:spPr>
        <p:txBody>
          <a:bodyPr wrap="square" lIns="0" tIns="0" rIns="0" bIns="0" rtlCol="0" anchor="t"/>
          <a:lstStyle/>
          <a:p>
            <a:pPr algn="ctr" indent="0" marL="0">
              <a:buNone/>
            </a:pPr>
            <a:r>
              <a:rPr lang="en-US" sz="1200" dirty="0">
                <a:solidFill>
                  <a:schemeClr val="bg2"/>
                </a:solidFill>
                <a:latin typeface="Consolas" pitchFamily="34" charset="0"/>
                <a:ea typeface="Consolas" pitchFamily="34" charset="-122"/>
                <a:cs typeface="Consolas" pitchFamily="34" charset="-120"/>
              </a:rPr>
              <a:t>github.com/VivekTiwary-25/Zero_flux</a:t>
            </a:r>
            <a:endParaRPr lang="en-US" sz="1200" dirty="0"/>
          </a:p>
        </p:txBody>
      </p:sp>
      <p:sp>
        <p:nvSpPr>
          <p:cNvPr id="8" name="Text 4"/>
          <p:cNvSpPr txBox="1"/>
          <p:nvPr/>
        </p:nvSpPr>
        <p:spPr>
          <a:xfrm>
            <a:off x="685800" y="4343400"/>
            <a:ext cx="7498080" cy="822960"/>
          </a:xfrm>
          <a:prstGeom prst="rect">
            <a:avLst/>
          </a:prstGeom>
          <a:noFill/>
          <a:ln/>
        </p:spPr>
        <p:txBody>
          <a:bodyPr wrap="square" lIns="0" tIns="0" rIns="0" bIns="0" rtlCol="0" anchor="t"/>
          <a:lstStyle/>
          <a:p>
            <a:pPr indent="0" marL="0">
              <a:buNone/>
            </a:pPr>
            <a:r>
              <a:rPr lang="en-US" sz="2000" b="1" dirty="0">
                <a:solidFill>
                  <a:schemeClr val="accent2"/>
                </a:solidFill>
              </a:rPr>
              <a:t>Not a medical device. </a:t>
            </a:r>
            <a:pPr indent="0" marL="0">
              <a:buNone/>
            </a:pPr>
            <a:r>
              <a:rPr lang="en-US" sz="2000" dirty="0">
                <a:solidFill>
                  <a:schemeClr val="bg1"/>
                </a:solidFill>
              </a:rPr>
              <a:t>In an emergency, call 112 (108 for an ambulance) and start CPR.</a:t>
            </a:r>
            <a:endParaRPr lang="en-US" sz="2000" dirty="0"/>
          </a:p>
        </p:txBody>
      </p:sp>
      <p:sp>
        <p:nvSpPr>
          <p:cNvPr id="9" name="Text 5"/>
          <p:cNvSpPr txBox="1"/>
          <p:nvPr/>
        </p:nvSpPr>
        <p:spPr>
          <a:xfrm>
            <a:off x="685800" y="5760720"/>
            <a:ext cx="73152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PR Coach Ink">
  <a:themeElements>
    <a:clrScheme name="CPR Coach Ink">
      <a:dk1>
        <a:srgbClr val="0E1418"/>
      </a:dk1>
      <a:lt1>
        <a:srgbClr val="EEF2F5"/>
      </a:lt1>
      <a:dk2>
        <a:srgbClr val="151D23"/>
      </a:dk2>
      <a:lt2>
        <a:srgbClr val="93A3B5"/>
      </a:lt2>
      <a:accent1>
        <a:srgbClr val="2DD4BF"/>
      </a:accent1>
      <a:accent2>
        <a:srgbClr val="FF3B5C"/>
      </a:accent2>
      <a:accent3>
        <a:srgbClr val="FBBF24"/>
      </a:accent3>
      <a:accent4>
        <a:srgbClr val="2A3642"/>
      </a:accent4>
      <a:accent5>
        <a:srgbClr val="1A242C"/>
      </a:accent5>
      <a:accent6>
        <a:srgbClr val="5EEAD4"/>
      </a:accent6>
      <a:hlink>
        <a:srgbClr val="5EEAD4"/>
      </a:hlink>
      <a:folHlink>
        <a:srgbClr val="93A3B5"/>
      </a:folHlink>
    </a:clrScheme>
    <a:fontScheme name="CPR Coach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 Coach — Anvathon 2026</dc:title>
  <dc:subject>PptxGenJS Presentation</dc:subject>
  <dc:creator>Team Zero Flux</dc:creator>
  <cp:lastModifiedBy>Team Zero Flux</cp:lastModifiedBy>
  <cp:revision>1</cp:revision>
  <dcterms:created xsi:type="dcterms:W3CDTF">2026-10-31T05:23:56Z</dcterms:created>
  <dcterms:modified xsi:type="dcterms:W3CDTF">2026-10-31T05:23:56Z</dcterms:modified>
</cp:coreProperties>
</file>